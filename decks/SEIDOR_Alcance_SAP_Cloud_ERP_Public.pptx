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s/assets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502920"/>
            <a:ext cx="1417320" cy="5778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194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 Cloud ERP — Public Edition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86384" y="2651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C9D8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Baseline de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86384" y="3246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implementación Public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822960" y="4892040"/>
            <a:ext cx="0" cy="868680"/>
          </a:xfrm>
          <a:prstGeom prst="line">
            <a:avLst/>
          </a:prstGeom>
          <a:noFill/>
          <a:ln w="31750">
            <a:solidFill>
              <a:srgbClr val="33B4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4128" y="4937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ALCANCE DE REFERENCIA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5175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Alcance, cronograma e inversión de referencia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interno · Uso comercial · Sujeto a validación de alcance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RESUMEN EJECUTIVO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¿Qué incluye este baseline?</a:t>
            </a:r>
            <a:endParaRPr lang="en-US" sz="2800" dirty="0"/>
          </a:p>
        </p:txBody>
      </p:sp>
      <p:pic>
        <p:nvPicPr>
          <p:cNvPr id="4" name="Image 0" descr="/home/claude/decks/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5727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Implementación baseline de SAP Cloud ERP Public Edition sobre procesos estándar (clean core), pensada para arrancar rápido con las mejores prácticas SAP ya configuradas, minimizando el desarrollo a medida.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35295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788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A122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793" y="2919313"/>
            <a:ext cx="306141" cy="306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352044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DURACIÓN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14400" y="379476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16–20 semanas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315968" y="2514600"/>
            <a:ext cx="35295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90288" y="2788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E5BB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681" y="2919313"/>
            <a:ext cx="306141" cy="30614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90288" y="352044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590288" y="379476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PM · 3 Consultores funcionales · 1 Basis/CPI (part-time)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7991856" y="2514600"/>
            <a:ext cx="35295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66176" y="2788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A122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6569" y="2919313"/>
            <a:ext cx="306141" cy="30614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66176" y="352044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INVERSIÓN BASELINE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266176" y="379476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USD 156,000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ALCANCE BASELINE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incluye y qué no incluye</a:t>
            </a:r>
            <a:endParaRPr lang="en-US" sz="2800" dirty="0"/>
          </a:p>
        </p:txBody>
      </p:sp>
      <p:pic>
        <p:nvPicPr>
          <p:cNvPr id="4" name="Image 0" descr="/home/claude/decks/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A122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1979676"/>
            <a:ext cx="246888" cy="2468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901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Incluido en el baseline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14400" y="251460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Finanzas (FI) y Controlling básico — 1 sociedad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Compras y gestión de proveedores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Ventas y distribución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de inventario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Configuración basada en procesos estándar SAP (best practices)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Capacitación a usuarios clave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72200" y="160020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4F8FC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46520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8A97A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1979676"/>
            <a:ext cx="246888" cy="2468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1901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Fuera de este baseline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46520" y="251460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✗"/>
            </a:pPr>
            <a:r>
              <a:rPr lang="en-US" sz="12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Desarrollos a medida (custom code)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✗"/>
            </a:pPr>
            <a:r>
              <a:rPr lang="en-US" sz="12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Integraciones complejas con terceros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✗"/>
            </a:pPr>
            <a:r>
              <a:rPr lang="en-US" sz="12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Migración de datos históricos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✗"/>
            </a:pPr>
            <a:r>
              <a:rPr lang="en-US" sz="12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Licenciamiento SAP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 DE CONTINUAR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Premisas y supuestos</a:t>
            </a:r>
            <a:endParaRPr lang="en-US" sz="2800" dirty="0"/>
          </a:p>
        </p:txBody>
      </p:sp>
      <p:pic>
        <p:nvPicPr>
          <p:cNvPr id="4" name="Image 0" descr="/home/claude/decks/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5727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Este documento es una referencia baseline para conversación comercial interna, no una cotización formal ni un contrato. Los siguientes supuestos aplican: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108813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60120" y="2606040"/>
            <a:ext cx="10241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baseline de referencia — no constituye una cotización formal; se confirma tras workshop de scoping con el cliente.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Alcance calculado sobre 1 sociedad y procesos estándar SAP; complejidad adicional (multi-sociedad, procesos a medida) se cotiza aparte.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cliente provee accesos a sistemas, disponibilidad de usuarios clave y datos maestros limpios en los tiempos acordados.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incluye licenciamiento SAP — se gestiona directamente entre el cliente y SAP.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Cronograma sujeto a disponibilidad de recursos de ambas partes y fecha de arranque confirmada.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METODOLOGÍA SAP ACTIVATE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Cronograma de referencia</a:t>
            </a:r>
            <a:endParaRPr lang="en-US" sz="2800" dirty="0"/>
          </a:p>
        </p:txBody>
      </p:sp>
      <p:pic>
        <p:nvPicPr>
          <p:cNvPr id="4" name="Image 0" descr="/home/claude/decks/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57276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Seguimos la metodología estándar SAP Activate en sus 5 fases (Preparación, Exploración, Realización, Preparación final y Go-live), adaptada a un alcance baseline. Duración total estimada: 16–20 semanas; varía según disponibilidad de datos y decisiones del cliente.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7240" y="2971800"/>
            <a:ext cx="1123696" cy="502920"/>
          </a:xfrm>
          <a:prstGeom prst="rect">
            <a:avLst/>
          </a:prstGeom>
          <a:solidFill>
            <a:srgbClr val="0E1E3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566160"/>
            <a:ext cx="117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Preparación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3867912"/>
            <a:ext cx="117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sem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010664" y="2971800"/>
            <a:ext cx="1712976" cy="502920"/>
          </a:xfrm>
          <a:prstGeom prst="rect">
            <a:avLst/>
          </a:prstGeom>
          <a:solidFill>
            <a:srgbClr val="1E5BB8"/>
          </a:solidFill>
          <a:ln/>
        </p:spPr>
      </p:sp>
      <p:sp>
        <p:nvSpPr>
          <p:cNvPr id="11" name="Text 8"/>
          <p:cNvSpPr/>
          <p:nvPr/>
        </p:nvSpPr>
        <p:spPr>
          <a:xfrm>
            <a:off x="2010664" y="3566160"/>
            <a:ext cx="176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Exploración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010664" y="3867912"/>
            <a:ext cx="176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sem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833368" y="2971800"/>
            <a:ext cx="4659376" cy="502920"/>
          </a:xfrm>
          <a:prstGeom prst="rect">
            <a:avLst/>
          </a:prstGeom>
          <a:solidFill>
            <a:srgbClr val="33B4DD"/>
          </a:solidFill>
          <a:ln/>
        </p:spPr>
      </p:sp>
      <p:sp>
        <p:nvSpPr>
          <p:cNvPr id="14" name="Text 11"/>
          <p:cNvSpPr/>
          <p:nvPr/>
        </p:nvSpPr>
        <p:spPr>
          <a:xfrm>
            <a:off x="3833368" y="3566160"/>
            <a:ext cx="471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Realización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833368" y="3867912"/>
            <a:ext cx="471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sem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602472" y="2971800"/>
            <a:ext cx="1712976" cy="502920"/>
          </a:xfrm>
          <a:prstGeom prst="rect">
            <a:avLst/>
          </a:prstGeom>
          <a:solidFill>
            <a:srgbClr val="1E5BB8"/>
          </a:solidFill>
          <a:ln/>
        </p:spPr>
      </p:sp>
      <p:sp>
        <p:nvSpPr>
          <p:cNvPr id="17" name="Text 14"/>
          <p:cNvSpPr/>
          <p:nvPr/>
        </p:nvSpPr>
        <p:spPr>
          <a:xfrm>
            <a:off x="8602472" y="3566160"/>
            <a:ext cx="176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Prep. final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602472" y="3867912"/>
            <a:ext cx="176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sem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0425176" y="2971800"/>
            <a:ext cx="1123696" cy="502920"/>
          </a:xfrm>
          <a:prstGeom prst="rect">
            <a:avLst/>
          </a:prstGeom>
          <a:solidFill>
            <a:srgbClr val="0E1E3F"/>
          </a:solidFill>
          <a:ln/>
        </p:spPr>
      </p:sp>
      <p:sp>
        <p:nvSpPr>
          <p:cNvPr id="20" name="Text 17"/>
          <p:cNvSpPr/>
          <p:nvPr/>
        </p:nvSpPr>
        <p:spPr>
          <a:xfrm>
            <a:off x="10425176" y="3566160"/>
            <a:ext cx="117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Go-live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425176" y="3867912"/>
            <a:ext cx="117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sem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EQUIPO TÍPICO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Roles del proyecto</a:t>
            </a:r>
            <a:endParaRPr lang="en-US" sz="2800" dirty="0"/>
          </a:p>
        </p:txBody>
      </p:sp>
      <p:pic>
        <p:nvPicPr>
          <p:cNvPr id="4" name="Image 0" descr="/home/claude/decks/assets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3529584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6112" y="219456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0A122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124" y="2337572"/>
            <a:ext cx="335768" cy="3357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6112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Manager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96112" y="3657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Gobierno, cronograma, reporting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15968" y="1920240"/>
            <a:ext cx="3529584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0" y="219456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1E5BB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5012" y="2337572"/>
            <a:ext cx="335768" cy="3357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Consultores funcionales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572000" y="3657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Finanzas, Compras/Ventas, Inventario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991856" y="1920240"/>
            <a:ext cx="3529584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3CC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47888" y="219456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0A122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0900" y="2337572"/>
            <a:ext cx="335768" cy="3357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47888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Basis / CPI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8247888" y="3657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Soporte técnico, part-time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s/assets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502920"/>
            <a:ext cx="1417320" cy="5778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9144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INVERSIÓN BASELINE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86384" y="12070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de referencia total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2286000"/>
            <a:ext cx="5852160" cy="3383280"/>
          </a:xfrm>
          <a:prstGeom prst="roundRect">
            <a:avLst>
              <a:gd name="adj" fmla="val 2703"/>
            </a:avLst>
          </a:prstGeom>
          <a:solidFill>
            <a:srgbClr val="0C1B38"/>
          </a:solidFill>
          <a:ln w="12700">
            <a:solidFill>
              <a:srgbClr val="21407A"/>
            </a:solidFill>
            <a:prstDash val="solid"/>
          </a:ln>
          <a:effectLst>
            <a:outerShdw sx="100000" sy="100000" kx="0" ky="0" algn="bl" rotWithShape="0" blurRad="203200" dist="63500" dir="54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143000" y="2606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 CLOUD ERP — PUBLIC EDITION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" y="30175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FD3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USD </a:t>
            </a:r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156,000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143000" y="4114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C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baseline — sujeto a alcance final tras workshop de scoping.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995160" y="2286000"/>
            <a:ext cx="4370832" cy="1005840"/>
          </a:xfrm>
          <a:prstGeom prst="roundRect">
            <a:avLst>
              <a:gd name="adj" fmla="val 7273"/>
            </a:avLst>
          </a:prstGeom>
          <a:solidFill>
            <a:srgbClr val="0C1B38"/>
          </a:solidFill>
          <a:ln w="12700">
            <a:solidFill>
              <a:srgbClr val="2140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51192" y="2505456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5BB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379" y="2631643"/>
            <a:ext cx="296266" cy="2962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55280" y="2432304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16–20 semanas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955280" y="2852928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duración estimada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995160" y="3419856"/>
            <a:ext cx="4370832" cy="1005840"/>
          </a:xfrm>
          <a:prstGeom prst="roundRect">
            <a:avLst>
              <a:gd name="adj" fmla="val 7273"/>
            </a:avLst>
          </a:prstGeom>
          <a:solidFill>
            <a:srgbClr val="0C1B38"/>
          </a:solidFill>
          <a:ln w="12700">
            <a:solidFill>
              <a:srgbClr val="21407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51192" y="363931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5BB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379" y="3765499"/>
            <a:ext cx="296266" cy="2962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0" y="356616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roles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7955280" y="3986784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equipo típico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995160" y="4553712"/>
            <a:ext cx="4370832" cy="1005840"/>
          </a:xfrm>
          <a:prstGeom prst="roundRect">
            <a:avLst>
              <a:gd name="adj" fmla="val 7273"/>
            </a:avLst>
          </a:prstGeom>
          <a:solidFill>
            <a:srgbClr val="0C1B38"/>
          </a:solidFill>
          <a:ln w="12700">
            <a:solidFill>
              <a:srgbClr val="21407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251192" y="4773168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5BB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7379" y="4899355"/>
            <a:ext cx="296266" cy="2962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55280" y="4700016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módulos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955280" y="5120640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C3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incluidos en baseline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s/assets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128" y="1234440"/>
            <a:ext cx="2377440" cy="9693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D8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¿Listos para empezar?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Hablemos de tu proyecto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184648" y="3977640"/>
            <a:ext cx="1828800" cy="0"/>
          </a:xfrm>
          <a:prstGeom prst="line">
            <a:avLst/>
          </a:prstGeom>
          <a:noFill/>
          <a:ln w="31750">
            <a:solidFill>
              <a:srgbClr val="33B4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FD3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Este documento es una referencia interna de SEIDOR — no constituye una cotización formal.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62636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seidor.com  ·  SEIDOR |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SEIDOR — SAP Cloud ERP — Public Edition — Alcance baseline</dc:title>
  <dc:subject>PptxGenJS Presentation</dc:subject>
  <dc:creator>SEIDOR</dc:creator>
  <cp:lastModifiedBy>SEIDOR</cp:lastModifiedBy>
  <cp:revision>1</cp:revision>
  <dcterms:created xsi:type="dcterms:W3CDTF">2026-08-06T17:24:18Z</dcterms:created>
  <dcterms:modified xsi:type="dcterms:W3CDTF">2026-08-06T17:24:18Z</dcterms:modified>
</cp:coreProperties>
</file>