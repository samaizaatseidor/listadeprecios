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notesMasterIdLst>
    <p:notesMasterId r:id="rId10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image" Target="../media/image-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image" Target="../media/image-2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image" Target="../media/image-3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image" Target="../media/image-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image" Target="../media/image-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image" Target="../media/image-6-4.png"/><Relationship Id="rId5" Type="http://schemas.openxmlformats.org/officeDocument/2006/relationships/image" Target="../media/image-6-5.png"/><Relationship Id="rId6" Type="http://schemas.openxmlformats.org/officeDocument/2006/relationships/image" Target="../media/image-6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image" Target="../media/image-7-4.png"/><Relationship Id="rId5" Type="http://schemas.openxmlformats.org/officeDocument/2006/relationships/image" Target="../media/image-7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image" Target="../media/image-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decks/assets/logo_dark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149840" y="502920"/>
            <a:ext cx="1417320" cy="577877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822960" y="219456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spc="300" kern="0" dirty="0">
                <a:solidFill>
                  <a:srgbClr val="33B4DD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SAP Cloud ERP — Private Edition</a:t>
            </a:r>
            <a:endParaRPr lang="en-US" sz="1500" dirty="0"/>
          </a:p>
        </p:txBody>
      </p:sp>
      <p:sp>
        <p:nvSpPr>
          <p:cNvPr id="4" name="Text 1"/>
          <p:cNvSpPr/>
          <p:nvPr/>
        </p:nvSpPr>
        <p:spPr>
          <a:xfrm>
            <a:off x="786384" y="2651760"/>
            <a:ext cx="10058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dirty="0">
                <a:solidFill>
                  <a:srgbClr val="C9D8EE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Baseline de</a:t>
            </a:r>
            <a:endParaRPr lang="en-US" sz="3800" dirty="0"/>
          </a:p>
        </p:txBody>
      </p:sp>
      <p:sp>
        <p:nvSpPr>
          <p:cNvPr id="5" name="Text 2"/>
          <p:cNvSpPr/>
          <p:nvPr/>
        </p:nvSpPr>
        <p:spPr>
          <a:xfrm>
            <a:off x="786384" y="3246120"/>
            <a:ext cx="106070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6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implementación Private</a:t>
            </a:r>
            <a:endParaRPr lang="en-US" sz="4600" dirty="0"/>
          </a:p>
        </p:txBody>
      </p:sp>
      <p:sp>
        <p:nvSpPr>
          <p:cNvPr id="6" name="Shape 3"/>
          <p:cNvSpPr/>
          <p:nvPr/>
        </p:nvSpPr>
        <p:spPr>
          <a:xfrm>
            <a:off x="822960" y="4892040"/>
            <a:ext cx="0" cy="868680"/>
          </a:xfrm>
          <a:prstGeom prst="line">
            <a:avLst/>
          </a:prstGeom>
          <a:noFill/>
          <a:ln w="31750">
            <a:solidFill>
              <a:srgbClr val="33B4DD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1024128" y="493776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200" kern="0" dirty="0">
                <a:solidFill>
                  <a:srgbClr val="8A97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ALCANCE DE REFERENCIA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1005840" y="5175504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Alcance, cronograma e inversión de referencia</a:t>
            </a:r>
            <a:endParaRPr lang="en-US" sz="2200" dirty="0"/>
          </a:p>
        </p:txBody>
      </p:sp>
      <p:sp>
        <p:nvSpPr>
          <p:cNvPr id="9" name="Text 6"/>
          <p:cNvSpPr/>
          <p:nvPr/>
        </p:nvSpPr>
        <p:spPr>
          <a:xfrm>
            <a:off x="822960" y="626364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A97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Documento interno · Uso comercial · Sujeto a validación de alcance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200" kern="0" dirty="0">
                <a:solidFill>
                  <a:srgbClr val="33B4DD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RESUMEN EJECUTIVO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640080" y="749808"/>
            <a:ext cx="9144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A1226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¿Qué incluye este baseline?</a:t>
            </a:r>
            <a:endParaRPr lang="en-US" sz="2800" dirty="0"/>
          </a:p>
        </p:txBody>
      </p:sp>
      <p:pic>
        <p:nvPicPr>
          <p:cNvPr id="4" name="Image 0" descr="/home/claude/decks/assets/logo_light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058400" y="502920"/>
            <a:ext cx="1417320" cy="577877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1368735" y="640080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A97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02</a:t>
            </a:r>
            <a:endParaRPr lang="en-US" sz="1000" dirty="0"/>
          </a:p>
        </p:txBody>
      </p:sp>
      <p:sp>
        <p:nvSpPr>
          <p:cNvPr id="6" name="Text 3"/>
          <p:cNvSpPr/>
          <p:nvPr/>
        </p:nvSpPr>
        <p:spPr>
          <a:xfrm>
            <a:off x="640080" y="1572768"/>
            <a:ext cx="102412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1622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Implementación baseline de SAP Cloud ERP Private Edition, con mayor flexibilidad para procesos más complejos y extensibilidad in-app / side-by-side, manteniendo un alcance base acotado y predecible.</a:t>
            </a:r>
            <a:endParaRPr lang="en-US" sz="1400" dirty="0"/>
          </a:p>
        </p:txBody>
      </p:sp>
      <p:sp>
        <p:nvSpPr>
          <p:cNvPr id="7" name="Shape 4"/>
          <p:cNvSpPr/>
          <p:nvPr/>
        </p:nvSpPr>
        <p:spPr>
          <a:xfrm>
            <a:off x="640080" y="2514600"/>
            <a:ext cx="3529584" cy="2148840"/>
          </a:xfrm>
          <a:prstGeom prst="roundRect">
            <a:avLst>
              <a:gd name="adj" fmla="val 3404"/>
            </a:avLst>
          </a:prstGeom>
          <a:solidFill>
            <a:srgbClr val="FFFFFF"/>
          </a:solidFill>
          <a:ln w="12700">
            <a:solidFill>
              <a:srgbClr val="D8E2EE"/>
            </a:solidFill>
            <a:prstDash val="solid"/>
          </a:ln>
          <a:effectLst>
            <a:outerShdw sx="100000" sy="100000" kx="0" ky="0" algn="bl" rotWithShape="0" blurRad="114300" dist="38100" dir="5400000">
              <a:srgbClr val="9FB3CC">
                <a:alpha val="18000"/>
              </a:srgbClr>
            </a:outerShdw>
          </a:effectLst>
        </p:spPr>
      </p:sp>
      <p:sp>
        <p:nvSpPr>
          <p:cNvPr id="8" name="Shape 5"/>
          <p:cNvSpPr/>
          <p:nvPr/>
        </p:nvSpPr>
        <p:spPr>
          <a:xfrm>
            <a:off x="914400" y="2788920"/>
            <a:ext cx="566928" cy="566928"/>
          </a:xfrm>
          <a:prstGeom prst="roundRect">
            <a:avLst>
              <a:gd name="adj" fmla="val 16129"/>
            </a:avLst>
          </a:prstGeom>
          <a:solidFill>
            <a:srgbClr val="0A1226"/>
          </a:solidFill>
          <a:ln/>
        </p:spPr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44793" y="2919313"/>
            <a:ext cx="306141" cy="306141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914400" y="3520440"/>
            <a:ext cx="298094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50" kern="0" dirty="0">
                <a:solidFill>
                  <a:srgbClr val="8A97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DURACIÓN</a:t>
            </a:r>
            <a:endParaRPr lang="en-US" sz="1100" dirty="0"/>
          </a:p>
        </p:txBody>
      </p:sp>
      <p:sp>
        <p:nvSpPr>
          <p:cNvPr id="11" name="Text 7"/>
          <p:cNvSpPr/>
          <p:nvPr/>
        </p:nvSpPr>
        <p:spPr>
          <a:xfrm>
            <a:off x="914400" y="3794760"/>
            <a:ext cx="2980944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600" b="1" dirty="0">
                <a:solidFill>
                  <a:srgbClr val="0A1226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16–24 semanas</a:t>
            </a:r>
            <a:endParaRPr lang="en-US" sz="1600" dirty="0"/>
          </a:p>
        </p:txBody>
      </p:sp>
      <p:sp>
        <p:nvSpPr>
          <p:cNvPr id="12" name="Shape 8"/>
          <p:cNvSpPr/>
          <p:nvPr/>
        </p:nvSpPr>
        <p:spPr>
          <a:xfrm>
            <a:off x="4315968" y="2514600"/>
            <a:ext cx="3529584" cy="2148840"/>
          </a:xfrm>
          <a:prstGeom prst="roundRect">
            <a:avLst>
              <a:gd name="adj" fmla="val 3404"/>
            </a:avLst>
          </a:prstGeom>
          <a:solidFill>
            <a:srgbClr val="FFFFFF"/>
          </a:solidFill>
          <a:ln w="12700">
            <a:solidFill>
              <a:srgbClr val="D8E2EE"/>
            </a:solidFill>
            <a:prstDash val="solid"/>
          </a:ln>
          <a:effectLst>
            <a:outerShdw sx="100000" sy="100000" kx="0" ky="0" algn="bl" rotWithShape="0" blurRad="114300" dist="38100" dir="5400000">
              <a:srgbClr val="9FB3CC">
                <a:alpha val="18000"/>
              </a:srgbClr>
            </a:outerShdw>
          </a:effectLst>
        </p:spPr>
      </p:sp>
      <p:sp>
        <p:nvSpPr>
          <p:cNvPr id="13" name="Shape 9"/>
          <p:cNvSpPr/>
          <p:nvPr/>
        </p:nvSpPr>
        <p:spPr>
          <a:xfrm>
            <a:off x="4590288" y="2788920"/>
            <a:ext cx="566928" cy="566928"/>
          </a:xfrm>
          <a:prstGeom prst="roundRect">
            <a:avLst>
              <a:gd name="adj" fmla="val 16129"/>
            </a:avLst>
          </a:prstGeom>
          <a:solidFill>
            <a:srgbClr val="1E5BB8"/>
          </a:solidFill>
          <a:ln/>
        </p:spPr>
      </p:sp>
      <p:pic>
        <p:nvPicPr>
          <p:cNvPr id="14" name="Image 2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720681" y="2919313"/>
            <a:ext cx="306141" cy="306141"/>
          </a:xfrm>
          <a:prstGeom prst="rect">
            <a:avLst/>
          </a:prstGeom>
        </p:spPr>
      </p:pic>
      <p:sp>
        <p:nvSpPr>
          <p:cNvPr id="15" name="Text 10"/>
          <p:cNvSpPr/>
          <p:nvPr/>
        </p:nvSpPr>
        <p:spPr>
          <a:xfrm>
            <a:off x="4590288" y="3520440"/>
            <a:ext cx="298094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50" kern="0" dirty="0">
                <a:solidFill>
                  <a:srgbClr val="8A97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EQUIPO</a:t>
            </a:r>
            <a:endParaRPr lang="en-US" sz="1100" dirty="0"/>
          </a:p>
        </p:txBody>
      </p:sp>
      <p:sp>
        <p:nvSpPr>
          <p:cNvPr id="16" name="Text 11"/>
          <p:cNvSpPr/>
          <p:nvPr/>
        </p:nvSpPr>
        <p:spPr>
          <a:xfrm>
            <a:off x="4590288" y="3794760"/>
            <a:ext cx="2980944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600" b="1" dirty="0">
                <a:solidFill>
                  <a:srgbClr val="0A1226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 PM · 4 Consultores funcionales · 1 Técnico (ABAP) · 1 Basis</a:t>
            </a:r>
            <a:endParaRPr lang="en-US" sz="1600" dirty="0"/>
          </a:p>
        </p:txBody>
      </p:sp>
      <p:sp>
        <p:nvSpPr>
          <p:cNvPr id="17" name="Shape 12"/>
          <p:cNvSpPr/>
          <p:nvPr/>
        </p:nvSpPr>
        <p:spPr>
          <a:xfrm>
            <a:off x="7991856" y="2514600"/>
            <a:ext cx="3529584" cy="2148840"/>
          </a:xfrm>
          <a:prstGeom prst="roundRect">
            <a:avLst>
              <a:gd name="adj" fmla="val 3404"/>
            </a:avLst>
          </a:prstGeom>
          <a:solidFill>
            <a:srgbClr val="FFFFFF"/>
          </a:solidFill>
          <a:ln w="12700">
            <a:solidFill>
              <a:srgbClr val="D8E2EE"/>
            </a:solidFill>
            <a:prstDash val="solid"/>
          </a:ln>
          <a:effectLst>
            <a:outerShdw sx="100000" sy="100000" kx="0" ky="0" algn="bl" rotWithShape="0" blurRad="114300" dist="38100" dir="5400000">
              <a:srgbClr val="9FB3CC">
                <a:alpha val="18000"/>
              </a:srgbClr>
            </a:outerShdw>
          </a:effectLst>
        </p:spPr>
      </p:sp>
      <p:sp>
        <p:nvSpPr>
          <p:cNvPr id="18" name="Shape 13"/>
          <p:cNvSpPr/>
          <p:nvPr/>
        </p:nvSpPr>
        <p:spPr>
          <a:xfrm>
            <a:off x="8266176" y="2788920"/>
            <a:ext cx="566928" cy="566928"/>
          </a:xfrm>
          <a:prstGeom prst="roundRect">
            <a:avLst>
              <a:gd name="adj" fmla="val 16129"/>
            </a:avLst>
          </a:prstGeom>
          <a:solidFill>
            <a:srgbClr val="0A1226"/>
          </a:solidFill>
          <a:ln/>
        </p:spPr>
      </p:sp>
      <p:pic>
        <p:nvPicPr>
          <p:cNvPr id="19" name="Image 3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396569" y="2919313"/>
            <a:ext cx="306141" cy="306141"/>
          </a:xfrm>
          <a:prstGeom prst="rect">
            <a:avLst/>
          </a:prstGeom>
        </p:spPr>
      </p:pic>
      <p:sp>
        <p:nvSpPr>
          <p:cNvPr id="20" name="Text 14"/>
          <p:cNvSpPr/>
          <p:nvPr/>
        </p:nvSpPr>
        <p:spPr>
          <a:xfrm>
            <a:off x="8266176" y="3520440"/>
            <a:ext cx="298094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50" kern="0" dirty="0">
                <a:solidFill>
                  <a:srgbClr val="8A97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INVERSIÓN BASELINE</a:t>
            </a:r>
            <a:endParaRPr lang="en-US" sz="1100" dirty="0"/>
          </a:p>
        </p:txBody>
      </p:sp>
      <p:sp>
        <p:nvSpPr>
          <p:cNvPr id="21" name="Text 15"/>
          <p:cNvSpPr/>
          <p:nvPr/>
        </p:nvSpPr>
        <p:spPr>
          <a:xfrm>
            <a:off x="8266176" y="3794760"/>
            <a:ext cx="2980944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600" b="1" dirty="0">
                <a:solidFill>
                  <a:srgbClr val="0A1226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USD 205,000</a:t>
            </a:r>
            <a:endParaRPr lang="en-US" sz="16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200" kern="0" dirty="0">
                <a:solidFill>
                  <a:srgbClr val="33B4DD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ALCANCE BASELINE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640080" y="749808"/>
            <a:ext cx="9144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A1226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Qué incluye y qué no incluye</a:t>
            </a:r>
            <a:endParaRPr lang="en-US" sz="2800" dirty="0"/>
          </a:p>
        </p:txBody>
      </p:sp>
      <p:pic>
        <p:nvPicPr>
          <p:cNvPr id="4" name="Image 0" descr="/home/claude/decks/assets/logo_light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058400" y="502920"/>
            <a:ext cx="1417320" cy="577877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1368735" y="640080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A97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03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640080" y="1600200"/>
            <a:ext cx="5257800" cy="4434840"/>
          </a:xfrm>
          <a:prstGeom prst="roundRect">
            <a:avLst>
              <a:gd name="adj" fmla="val 1649"/>
            </a:avLst>
          </a:prstGeom>
          <a:solidFill>
            <a:srgbClr val="FFFFFF"/>
          </a:solidFill>
          <a:ln w="12700">
            <a:solidFill>
              <a:srgbClr val="D8E2EE"/>
            </a:solidFill>
            <a:prstDash val="solid"/>
          </a:ln>
          <a:effectLst>
            <a:outerShdw sx="100000" sy="100000" kx="0" ky="0" algn="bl" rotWithShape="0" blurRad="114300" dist="38100" dir="5400000">
              <a:srgbClr val="9FB3CC">
                <a:alpha val="18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914400" y="1874520"/>
            <a:ext cx="457200" cy="457200"/>
          </a:xfrm>
          <a:prstGeom prst="roundRect">
            <a:avLst>
              <a:gd name="adj" fmla="val 20000"/>
            </a:avLst>
          </a:prstGeom>
          <a:solidFill>
            <a:srgbClr val="0A1226"/>
          </a:solidFill>
          <a:ln/>
        </p:spPr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19556" y="1979676"/>
            <a:ext cx="246888" cy="246888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1508760" y="1901952"/>
            <a:ext cx="4114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A1226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Incluido en el baseline</a:t>
            </a:r>
            <a:endParaRPr lang="en-US" sz="1500" dirty="0"/>
          </a:p>
        </p:txBody>
      </p:sp>
      <p:sp>
        <p:nvSpPr>
          <p:cNvPr id="10" name="Text 6"/>
          <p:cNvSpPr/>
          <p:nvPr/>
        </p:nvSpPr>
        <p:spPr>
          <a:xfrm>
            <a:off x="914400" y="2514600"/>
            <a:ext cx="470916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ct val="135000"/>
              </a:lnSpc>
              <a:spcAft>
                <a:spcPts val="800"/>
              </a:spcAft>
              <a:buSzPct val="100000"/>
              <a:buChar char="✓"/>
            </a:pPr>
            <a:r>
              <a:rPr lang="en-US" sz="1250" dirty="0">
                <a:solidFill>
                  <a:srgbClr val="1622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Finanzas (FI) y Controlling básico — 1 sociedad</a:t>
            </a:r>
            <a:endParaRPr lang="en-US" sz="1250" dirty="0"/>
          </a:p>
          <a:p>
            <a:pPr marL="342900" indent="-342900">
              <a:lnSpc>
                <a:spcPct val="135000"/>
              </a:lnSpc>
              <a:spcAft>
                <a:spcPts val="800"/>
              </a:spcAft>
              <a:buSzPct val="100000"/>
              <a:buChar char="✓"/>
            </a:pPr>
            <a:r>
              <a:rPr lang="en-US" sz="1250" dirty="0">
                <a:solidFill>
                  <a:srgbClr val="1622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Compras y gestión de proveedores</a:t>
            </a:r>
            <a:endParaRPr lang="en-US" sz="1250" dirty="0"/>
          </a:p>
          <a:p>
            <a:pPr marL="342900" indent="-342900">
              <a:lnSpc>
                <a:spcPct val="135000"/>
              </a:lnSpc>
              <a:spcAft>
                <a:spcPts val="800"/>
              </a:spcAft>
              <a:buSzPct val="100000"/>
              <a:buChar char="✓"/>
            </a:pPr>
            <a:r>
              <a:rPr lang="en-US" sz="1250" dirty="0">
                <a:solidFill>
                  <a:srgbClr val="1622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Ventas y distribución</a:t>
            </a:r>
            <a:endParaRPr lang="en-US" sz="1250" dirty="0"/>
          </a:p>
          <a:p>
            <a:pPr marL="342900" indent="-342900">
              <a:lnSpc>
                <a:spcPct val="135000"/>
              </a:lnSpc>
              <a:spcAft>
                <a:spcPts val="800"/>
              </a:spcAft>
              <a:buSzPct val="100000"/>
              <a:buChar char="✓"/>
            </a:pPr>
            <a:r>
              <a:rPr lang="en-US" sz="1250" dirty="0">
                <a:solidFill>
                  <a:srgbClr val="1622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Gestión de inventario y almacenes</a:t>
            </a:r>
            <a:endParaRPr lang="en-US" sz="1250" dirty="0"/>
          </a:p>
          <a:p>
            <a:pPr marL="342900" indent="-342900">
              <a:lnSpc>
                <a:spcPct val="135000"/>
              </a:lnSpc>
              <a:spcAft>
                <a:spcPts val="800"/>
              </a:spcAft>
              <a:buSzPct val="100000"/>
              <a:buChar char="✓"/>
            </a:pPr>
            <a:r>
              <a:rPr lang="en-US" sz="1250" dirty="0">
                <a:solidFill>
                  <a:srgbClr val="1622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Extensibilidad in-app y side-by-side</a:t>
            </a:r>
            <a:endParaRPr lang="en-US" sz="1250" dirty="0"/>
          </a:p>
          <a:p>
            <a:pPr marL="342900" indent="-342900">
              <a:lnSpc>
                <a:spcPct val="135000"/>
              </a:lnSpc>
              <a:spcAft>
                <a:spcPts val="800"/>
              </a:spcAft>
              <a:buSzPct val="100000"/>
              <a:buChar char="✓"/>
            </a:pPr>
            <a:r>
              <a:rPr lang="en-US" sz="1250" dirty="0">
                <a:solidFill>
                  <a:srgbClr val="1622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Capacitación a usuarios clave</a:t>
            </a:r>
            <a:endParaRPr lang="en-US" sz="1250" dirty="0"/>
          </a:p>
        </p:txBody>
      </p:sp>
      <p:sp>
        <p:nvSpPr>
          <p:cNvPr id="11" name="Shape 7"/>
          <p:cNvSpPr/>
          <p:nvPr/>
        </p:nvSpPr>
        <p:spPr>
          <a:xfrm>
            <a:off x="6172200" y="1600200"/>
            <a:ext cx="5349240" cy="4434840"/>
          </a:xfrm>
          <a:prstGeom prst="roundRect">
            <a:avLst>
              <a:gd name="adj" fmla="val 1649"/>
            </a:avLst>
          </a:prstGeom>
          <a:solidFill>
            <a:srgbClr val="F4F8FC"/>
          </a:solidFill>
          <a:ln w="12700">
            <a:solidFill>
              <a:srgbClr val="D8E2EE"/>
            </a:solidFill>
            <a:prstDash val="solid"/>
          </a:ln>
          <a:effectLst>
            <a:outerShdw sx="100000" sy="100000" kx="0" ky="0" algn="bl" rotWithShape="0" blurRad="114300" dist="38100" dir="5400000">
              <a:srgbClr val="9FB3CC">
                <a:alpha val="18000"/>
              </a:srgbClr>
            </a:outerShdw>
          </a:effectLst>
        </p:spPr>
      </p:sp>
      <p:sp>
        <p:nvSpPr>
          <p:cNvPr id="12" name="Shape 8"/>
          <p:cNvSpPr/>
          <p:nvPr/>
        </p:nvSpPr>
        <p:spPr>
          <a:xfrm>
            <a:off x="6446520" y="1874520"/>
            <a:ext cx="457200" cy="457200"/>
          </a:xfrm>
          <a:prstGeom prst="roundRect">
            <a:avLst>
              <a:gd name="adj" fmla="val 20000"/>
            </a:avLst>
          </a:prstGeom>
          <a:solidFill>
            <a:srgbClr val="8A97AC"/>
          </a:solidFill>
          <a:ln/>
        </p:spPr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51676" y="1979676"/>
            <a:ext cx="246888" cy="246888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7040880" y="1901952"/>
            <a:ext cx="4114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A1226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Fuera de este baseline</a:t>
            </a:r>
            <a:endParaRPr lang="en-US" sz="1500" dirty="0"/>
          </a:p>
        </p:txBody>
      </p:sp>
      <p:sp>
        <p:nvSpPr>
          <p:cNvPr id="15" name="Text 10"/>
          <p:cNvSpPr/>
          <p:nvPr/>
        </p:nvSpPr>
        <p:spPr>
          <a:xfrm>
            <a:off x="6446520" y="2514600"/>
            <a:ext cx="480060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ct val="135000"/>
              </a:lnSpc>
              <a:spcAft>
                <a:spcPts val="800"/>
              </a:spcAft>
              <a:buSzPct val="100000"/>
              <a:buChar char="✗"/>
            </a:pPr>
            <a:r>
              <a:rPr lang="en-US" sz="1250" dirty="0">
                <a:solidFill>
                  <a:srgbClr val="5E6B8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Desarrollos custom más allá del alcance baseline</a:t>
            </a:r>
            <a:endParaRPr lang="en-US" sz="1250" dirty="0"/>
          </a:p>
          <a:p>
            <a:pPr marL="342900" indent="-342900">
              <a:lnSpc>
                <a:spcPct val="135000"/>
              </a:lnSpc>
              <a:spcAft>
                <a:spcPts val="800"/>
              </a:spcAft>
              <a:buSzPct val="100000"/>
              <a:buChar char="✗"/>
            </a:pPr>
            <a:r>
              <a:rPr lang="en-US" sz="1250" dirty="0">
                <a:solidFill>
                  <a:srgbClr val="5E6B8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Integraciones a terceros más allá de PAC Certificado</a:t>
            </a:r>
            <a:endParaRPr lang="en-US" sz="1250" dirty="0"/>
          </a:p>
          <a:p>
            <a:pPr marL="342900" indent="-342900">
              <a:lnSpc>
                <a:spcPct val="135000"/>
              </a:lnSpc>
              <a:spcAft>
                <a:spcPts val="800"/>
              </a:spcAft>
              <a:buSzPct val="100000"/>
              <a:buChar char="✗"/>
            </a:pPr>
            <a:r>
              <a:rPr lang="en-US" sz="1250" dirty="0">
                <a:solidFill>
                  <a:srgbClr val="5E6B8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Migración de datos históricos (&gt; 2 años)</a:t>
            </a:r>
            <a:endParaRPr lang="en-US" sz="1250" dirty="0"/>
          </a:p>
          <a:p>
            <a:pPr marL="342900" indent="-342900">
              <a:lnSpc>
                <a:spcPct val="135000"/>
              </a:lnSpc>
              <a:spcAft>
                <a:spcPts val="800"/>
              </a:spcAft>
              <a:buSzPct val="100000"/>
              <a:buChar char="✗"/>
            </a:pPr>
            <a:r>
              <a:rPr lang="en-US" sz="1250" dirty="0">
                <a:solidFill>
                  <a:srgbClr val="5E6B8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Licenciamiento SAP</a:t>
            </a:r>
            <a:endParaRPr lang="en-US" sz="12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200" kern="0" dirty="0">
                <a:solidFill>
                  <a:srgbClr val="33B4DD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ANTES DE CONTINUAR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640080" y="749808"/>
            <a:ext cx="9144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A1226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Premisas y supuestos</a:t>
            </a:r>
            <a:endParaRPr lang="en-US" sz="2800" dirty="0"/>
          </a:p>
        </p:txBody>
      </p:sp>
      <p:pic>
        <p:nvPicPr>
          <p:cNvPr id="4" name="Image 0" descr="/home/claude/decks/assets/logo_light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058400" y="502920"/>
            <a:ext cx="1417320" cy="577877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1368735" y="640080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A97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04</a:t>
            </a:r>
            <a:endParaRPr lang="en-US" sz="1000" dirty="0"/>
          </a:p>
        </p:txBody>
      </p:sp>
      <p:sp>
        <p:nvSpPr>
          <p:cNvPr id="6" name="Text 3"/>
          <p:cNvSpPr/>
          <p:nvPr/>
        </p:nvSpPr>
        <p:spPr>
          <a:xfrm>
            <a:off x="640080" y="1572768"/>
            <a:ext cx="10332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350" dirty="0">
                <a:solidFill>
                  <a:srgbClr val="1622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Este documento es una referencia baseline para conversación comercial interna, no una cotización formal ni un contrato. Los siguientes supuestos aplican:</a:t>
            </a:r>
            <a:endParaRPr lang="en-US" sz="1350" dirty="0"/>
          </a:p>
        </p:txBody>
      </p:sp>
      <p:sp>
        <p:nvSpPr>
          <p:cNvPr id="7" name="Shape 4"/>
          <p:cNvSpPr/>
          <p:nvPr/>
        </p:nvSpPr>
        <p:spPr>
          <a:xfrm>
            <a:off x="640080" y="2286000"/>
            <a:ext cx="10881360" cy="3794760"/>
          </a:xfrm>
          <a:prstGeom prst="roundRect">
            <a:avLst>
              <a:gd name="adj" fmla="val 1928"/>
            </a:avLst>
          </a:prstGeom>
          <a:solidFill>
            <a:srgbClr val="FFFFFF"/>
          </a:solidFill>
          <a:ln w="12700">
            <a:solidFill>
              <a:srgbClr val="D8E2EE"/>
            </a:solidFill>
            <a:prstDash val="solid"/>
          </a:ln>
          <a:effectLst>
            <a:outerShdw sx="100000" sy="100000" kx="0" ky="0" algn="bl" rotWithShape="0" blurRad="114300" dist="38100" dir="5400000">
              <a:srgbClr val="9FB3CC">
                <a:alpha val="18000"/>
              </a:srgbClr>
            </a:outerShdw>
          </a:effectLst>
        </p:spPr>
      </p:sp>
      <p:sp>
        <p:nvSpPr>
          <p:cNvPr id="8" name="Text 5"/>
          <p:cNvSpPr/>
          <p:nvPr/>
        </p:nvSpPr>
        <p:spPr>
          <a:xfrm>
            <a:off x="960120" y="2606040"/>
            <a:ext cx="10241280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ct val="140000"/>
              </a:lnSpc>
              <a:spcAft>
                <a:spcPts val="1400"/>
              </a:spcAft>
              <a:buSzPct val="100000"/>
              <a:buChar char="●"/>
            </a:pPr>
            <a:r>
              <a:rPr lang="en-US" sz="1400" dirty="0">
                <a:solidFill>
                  <a:srgbClr val="1622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Precio baseline de referencia — no constituye una cotización formal; se confirma tras workshop de scoping con el cliente.</a:t>
            </a:r>
            <a:endParaRPr lang="en-US" sz="1400" dirty="0"/>
          </a:p>
          <a:p>
            <a:pPr marL="342900" indent="-342900">
              <a:lnSpc>
                <a:spcPct val="140000"/>
              </a:lnSpc>
              <a:spcAft>
                <a:spcPts val="1400"/>
              </a:spcAft>
              <a:buSzPct val="100000"/>
              <a:buChar char="●"/>
            </a:pPr>
            <a:r>
              <a:rPr lang="en-US" sz="1400" dirty="0">
                <a:solidFill>
                  <a:srgbClr val="1622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Alcance calculado sobre 1 sociedad y procesos estándar SAP con extensibilidad acotada; mayor complejidad se cotiza aparte.</a:t>
            </a:r>
            <a:endParaRPr lang="en-US" sz="1400" dirty="0"/>
          </a:p>
          <a:p>
            <a:pPr marL="342900" indent="-342900">
              <a:lnSpc>
                <a:spcPct val="140000"/>
              </a:lnSpc>
              <a:spcAft>
                <a:spcPts val="1400"/>
              </a:spcAft>
              <a:buSzPct val="100000"/>
              <a:buChar char="●"/>
            </a:pPr>
            <a:r>
              <a:rPr lang="en-US" sz="1400" dirty="0">
                <a:solidFill>
                  <a:srgbClr val="1622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El cliente provee accesos a sistemas, disponibilidad de usuarios clave y datos maestros limpios en los tiempos acordados.</a:t>
            </a:r>
            <a:endParaRPr lang="en-US" sz="1400" dirty="0"/>
          </a:p>
          <a:p>
            <a:pPr marL="342900" indent="-342900">
              <a:lnSpc>
                <a:spcPct val="140000"/>
              </a:lnSpc>
              <a:spcAft>
                <a:spcPts val="1400"/>
              </a:spcAft>
              <a:buSzPct val="100000"/>
              <a:buChar char="●"/>
            </a:pPr>
            <a:r>
              <a:rPr lang="en-US" sz="1400" dirty="0">
                <a:solidFill>
                  <a:srgbClr val="1622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No incluye licenciamiento SAP — se gestiona directamente entre el cliente y SAP.</a:t>
            </a:r>
            <a:endParaRPr lang="en-US" sz="1400" dirty="0"/>
          </a:p>
          <a:p>
            <a:pPr marL="342900" indent="-342900">
              <a:lnSpc>
                <a:spcPct val="140000"/>
              </a:lnSpc>
              <a:spcAft>
                <a:spcPts val="1400"/>
              </a:spcAft>
              <a:buSzPct val="100000"/>
              <a:buChar char="●"/>
            </a:pPr>
            <a:r>
              <a:rPr lang="en-US" sz="1400" dirty="0">
                <a:solidFill>
                  <a:srgbClr val="1622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Cronograma sujeto a disponibilidad de recursos de ambas partes y fecha de arranque confirmada.</a:t>
            </a:r>
            <a:endParaRPr lang="en-US" sz="14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200" kern="0" dirty="0">
                <a:solidFill>
                  <a:srgbClr val="33B4DD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METODOLOGÍA SAP ACTIVATE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640080" y="749808"/>
            <a:ext cx="9144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A1226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Cronograma de referencia</a:t>
            </a:r>
            <a:endParaRPr lang="en-US" sz="2800" dirty="0"/>
          </a:p>
        </p:txBody>
      </p:sp>
      <p:pic>
        <p:nvPicPr>
          <p:cNvPr id="4" name="Image 0" descr="/home/claude/decks/assets/logo_light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058400" y="502920"/>
            <a:ext cx="1417320" cy="577877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1368735" y="640080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A97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05</a:t>
            </a:r>
            <a:endParaRPr lang="en-US" sz="1000" dirty="0"/>
          </a:p>
        </p:txBody>
      </p:sp>
      <p:sp>
        <p:nvSpPr>
          <p:cNvPr id="6" name="Text 3"/>
          <p:cNvSpPr/>
          <p:nvPr/>
        </p:nvSpPr>
        <p:spPr>
          <a:xfrm>
            <a:off x="640080" y="1572768"/>
            <a:ext cx="103327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5E6B8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Seguimos la metodología estándar SAP Activate en sus 5 fases (Preparación, Exploración, Realización, Preparación final y Go-live), adaptada a un alcance baseline. Duración total estimada: 16–24 semanas; varía según disponibilidad de datos y decisiones del cliente.</a:t>
            </a:r>
            <a:endParaRPr lang="en-US" sz="1250" dirty="0"/>
          </a:p>
        </p:txBody>
      </p:sp>
      <p:sp>
        <p:nvSpPr>
          <p:cNvPr id="7" name="Shape 4"/>
          <p:cNvSpPr/>
          <p:nvPr/>
        </p:nvSpPr>
        <p:spPr>
          <a:xfrm>
            <a:off x="777240" y="2971800"/>
            <a:ext cx="909412" cy="502920"/>
          </a:xfrm>
          <a:prstGeom prst="rect">
            <a:avLst/>
          </a:prstGeom>
          <a:solidFill>
            <a:srgbClr val="0E1E3F"/>
          </a:solidFill>
          <a:ln/>
        </p:spPr>
      </p:sp>
      <p:sp>
        <p:nvSpPr>
          <p:cNvPr id="8" name="Text 5"/>
          <p:cNvSpPr/>
          <p:nvPr/>
        </p:nvSpPr>
        <p:spPr>
          <a:xfrm>
            <a:off x="777240" y="3566160"/>
            <a:ext cx="964276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A1226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Preparación</a:t>
            </a:r>
            <a:endParaRPr lang="en-US" sz="1150" dirty="0"/>
          </a:p>
        </p:txBody>
      </p:sp>
      <p:sp>
        <p:nvSpPr>
          <p:cNvPr id="9" name="Text 6"/>
          <p:cNvSpPr/>
          <p:nvPr/>
        </p:nvSpPr>
        <p:spPr>
          <a:xfrm>
            <a:off x="777240" y="3867912"/>
            <a:ext cx="9642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E6B8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2 sem</a:t>
            </a:r>
            <a:endParaRPr lang="en-US" sz="1050" dirty="0"/>
          </a:p>
        </p:txBody>
      </p:sp>
      <p:sp>
        <p:nvSpPr>
          <p:cNvPr id="10" name="Shape 7"/>
          <p:cNvSpPr/>
          <p:nvPr/>
        </p:nvSpPr>
        <p:spPr>
          <a:xfrm>
            <a:off x="1796380" y="2971800"/>
            <a:ext cx="1873689" cy="502920"/>
          </a:xfrm>
          <a:prstGeom prst="rect">
            <a:avLst/>
          </a:prstGeom>
          <a:solidFill>
            <a:srgbClr val="1E5BB8"/>
          </a:solidFill>
          <a:ln/>
        </p:spPr>
      </p:sp>
      <p:sp>
        <p:nvSpPr>
          <p:cNvPr id="11" name="Text 8"/>
          <p:cNvSpPr/>
          <p:nvPr/>
        </p:nvSpPr>
        <p:spPr>
          <a:xfrm>
            <a:off x="1796380" y="3566160"/>
            <a:ext cx="1928553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A1226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Exploración</a:t>
            </a:r>
            <a:endParaRPr lang="en-US" sz="1150" dirty="0"/>
          </a:p>
        </p:txBody>
      </p:sp>
      <p:sp>
        <p:nvSpPr>
          <p:cNvPr id="12" name="Text 9"/>
          <p:cNvSpPr/>
          <p:nvPr/>
        </p:nvSpPr>
        <p:spPr>
          <a:xfrm>
            <a:off x="1796380" y="3867912"/>
            <a:ext cx="1928553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E6B8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4 sem</a:t>
            </a:r>
            <a:endParaRPr lang="en-US" sz="1050" dirty="0"/>
          </a:p>
        </p:txBody>
      </p:sp>
      <p:sp>
        <p:nvSpPr>
          <p:cNvPr id="13" name="Shape 10"/>
          <p:cNvSpPr/>
          <p:nvPr/>
        </p:nvSpPr>
        <p:spPr>
          <a:xfrm>
            <a:off x="3779797" y="2971800"/>
            <a:ext cx="4766518" cy="502920"/>
          </a:xfrm>
          <a:prstGeom prst="rect">
            <a:avLst/>
          </a:prstGeom>
          <a:solidFill>
            <a:srgbClr val="33B4DD"/>
          </a:solidFill>
          <a:ln/>
        </p:spPr>
      </p:sp>
      <p:sp>
        <p:nvSpPr>
          <p:cNvPr id="14" name="Text 11"/>
          <p:cNvSpPr/>
          <p:nvPr/>
        </p:nvSpPr>
        <p:spPr>
          <a:xfrm>
            <a:off x="3779797" y="3566160"/>
            <a:ext cx="482138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A1226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Realización</a:t>
            </a:r>
            <a:endParaRPr lang="en-US" sz="1150" dirty="0"/>
          </a:p>
        </p:txBody>
      </p:sp>
      <p:sp>
        <p:nvSpPr>
          <p:cNvPr id="15" name="Text 12"/>
          <p:cNvSpPr/>
          <p:nvPr/>
        </p:nvSpPr>
        <p:spPr>
          <a:xfrm>
            <a:off x="3779797" y="3867912"/>
            <a:ext cx="482138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E6B8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10 sem</a:t>
            </a:r>
            <a:endParaRPr lang="en-US" sz="1050" dirty="0"/>
          </a:p>
        </p:txBody>
      </p:sp>
      <p:sp>
        <p:nvSpPr>
          <p:cNvPr id="16" name="Shape 13"/>
          <p:cNvSpPr/>
          <p:nvPr/>
        </p:nvSpPr>
        <p:spPr>
          <a:xfrm>
            <a:off x="8656043" y="2971800"/>
            <a:ext cx="1873689" cy="502920"/>
          </a:xfrm>
          <a:prstGeom prst="rect">
            <a:avLst/>
          </a:prstGeom>
          <a:solidFill>
            <a:srgbClr val="1E5BB8"/>
          </a:solidFill>
          <a:ln/>
        </p:spPr>
      </p:sp>
      <p:sp>
        <p:nvSpPr>
          <p:cNvPr id="17" name="Text 14"/>
          <p:cNvSpPr/>
          <p:nvPr/>
        </p:nvSpPr>
        <p:spPr>
          <a:xfrm>
            <a:off x="8656043" y="3566160"/>
            <a:ext cx="1928553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A1226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Prep. final</a:t>
            </a:r>
            <a:endParaRPr lang="en-US" sz="1150" dirty="0"/>
          </a:p>
        </p:txBody>
      </p:sp>
      <p:sp>
        <p:nvSpPr>
          <p:cNvPr id="18" name="Text 15"/>
          <p:cNvSpPr/>
          <p:nvPr/>
        </p:nvSpPr>
        <p:spPr>
          <a:xfrm>
            <a:off x="8656043" y="3867912"/>
            <a:ext cx="1928553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E6B8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4 sem</a:t>
            </a:r>
            <a:endParaRPr lang="en-US" sz="1050" dirty="0"/>
          </a:p>
        </p:txBody>
      </p:sp>
      <p:sp>
        <p:nvSpPr>
          <p:cNvPr id="19" name="Shape 16"/>
          <p:cNvSpPr/>
          <p:nvPr/>
        </p:nvSpPr>
        <p:spPr>
          <a:xfrm>
            <a:off x="10639460" y="2971800"/>
            <a:ext cx="909412" cy="502920"/>
          </a:xfrm>
          <a:prstGeom prst="rect">
            <a:avLst/>
          </a:prstGeom>
          <a:solidFill>
            <a:srgbClr val="0E1E3F"/>
          </a:solidFill>
          <a:ln/>
        </p:spPr>
      </p:sp>
      <p:sp>
        <p:nvSpPr>
          <p:cNvPr id="20" name="Text 17"/>
          <p:cNvSpPr/>
          <p:nvPr/>
        </p:nvSpPr>
        <p:spPr>
          <a:xfrm>
            <a:off x="10639460" y="3566160"/>
            <a:ext cx="964276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A1226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Go-live</a:t>
            </a:r>
            <a:endParaRPr lang="en-US" sz="1150" dirty="0"/>
          </a:p>
        </p:txBody>
      </p:sp>
      <p:sp>
        <p:nvSpPr>
          <p:cNvPr id="21" name="Text 18"/>
          <p:cNvSpPr/>
          <p:nvPr/>
        </p:nvSpPr>
        <p:spPr>
          <a:xfrm>
            <a:off x="10639460" y="3867912"/>
            <a:ext cx="9642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E6B8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2 sem</a:t>
            </a:r>
            <a:endParaRPr lang="en-US" sz="10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200" kern="0" dirty="0">
                <a:solidFill>
                  <a:srgbClr val="33B4DD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EQUIPO TÍPICO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640080" y="749808"/>
            <a:ext cx="9144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A1226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Roles del proyecto</a:t>
            </a:r>
            <a:endParaRPr lang="en-US" sz="2800" dirty="0"/>
          </a:p>
        </p:txBody>
      </p:sp>
      <p:pic>
        <p:nvPicPr>
          <p:cNvPr id="4" name="Image 0" descr="/home/claude/decks/assets/logo_light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058400" y="502920"/>
            <a:ext cx="1417320" cy="577877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1368735" y="640080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A97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06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640080" y="1920240"/>
            <a:ext cx="2578608" cy="2926080"/>
          </a:xfrm>
          <a:prstGeom prst="roundRect">
            <a:avLst>
              <a:gd name="adj" fmla="val 2837"/>
            </a:avLst>
          </a:prstGeom>
          <a:solidFill>
            <a:srgbClr val="FFFFFF"/>
          </a:solidFill>
          <a:ln w="12700">
            <a:solidFill>
              <a:srgbClr val="D8E2EE"/>
            </a:solidFill>
            <a:prstDash val="solid"/>
          </a:ln>
          <a:effectLst>
            <a:outerShdw sx="100000" sy="100000" kx="0" ky="0" algn="bl" rotWithShape="0" blurRad="114300" dist="38100" dir="5400000">
              <a:srgbClr val="9FB3CC">
                <a:alpha val="18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896112" y="2194560"/>
            <a:ext cx="621792" cy="621792"/>
          </a:xfrm>
          <a:prstGeom prst="roundRect">
            <a:avLst>
              <a:gd name="adj" fmla="val 14706"/>
            </a:avLst>
          </a:prstGeom>
          <a:solidFill>
            <a:srgbClr val="0A1226"/>
          </a:solidFill>
          <a:ln/>
        </p:spPr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39124" y="2337572"/>
            <a:ext cx="335768" cy="335768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896112" y="3017520"/>
            <a:ext cx="206654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450" b="1" dirty="0">
                <a:solidFill>
                  <a:srgbClr val="0A1226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Project Manager</a:t>
            </a:r>
            <a:endParaRPr lang="en-US" sz="1450" dirty="0"/>
          </a:p>
        </p:txBody>
      </p:sp>
      <p:sp>
        <p:nvSpPr>
          <p:cNvPr id="10" name="Text 6"/>
          <p:cNvSpPr/>
          <p:nvPr/>
        </p:nvSpPr>
        <p:spPr>
          <a:xfrm>
            <a:off x="896112" y="3657600"/>
            <a:ext cx="206654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5E6B8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Gobierno, cronograma, reporting</a:t>
            </a:r>
            <a:endParaRPr lang="en-US" sz="1150" dirty="0"/>
          </a:p>
        </p:txBody>
      </p:sp>
      <p:sp>
        <p:nvSpPr>
          <p:cNvPr id="11" name="Shape 7"/>
          <p:cNvSpPr/>
          <p:nvPr/>
        </p:nvSpPr>
        <p:spPr>
          <a:xfrm>
            <a:off x="3364992" y="1920240"/>
            <a:ext cx="2578608" cy="2926080"/>
          </a:xfrm>
          <a:prstGeom prst="roundRect">
            <a:avLst>
              <a:gd name="adj" fmla="val 2837"/>
            </a:avLst>
          </a:prstGeom>
          <a:solidFill>
            <a:srgbClr val="FFFFFF"/>
          </a:solidFill>
          <a:ln w="12700">
            <a:solidFill>
              <a:srgbClr val="D8E2EE"/>
            </a:solidFill>
            <a:prstDash val="solid"/>
          </a:ln>
          <a:effectLst>
            <a:outerShdw sx="100000" sy="100000" kx="0" ky="0" algn="bl" rotWithShape="0" blurRad="114300" dist="38100" dir="5400000">
              <a:srgbClr val="9FB3CC">
                <a:alpha val="18000"/>
              </a:srgbClr>
            </a:outerShdw>
          </a:effectLst>
        </p:spPr>
      </p:sp>
      <p:sp>
        <p:nvSpPr>
          <p:cNvPr id="12" name="Shape 8"/>
          <p:cNvSpPr/>
          <p:nvPr/>
        </p:nvSpPr>
        <p:spPr>
          <a:xfrm>
            <a:off x="3621024" y="2194560"/>
            <a:ext cx="621792" cy="621792"/>
          </a:xfrm>
          <a:prstGeom prst="roundRect">
            <a:avLst>
              <a:gd name="adj" fmla="val 14706"/>
            </a:avLst>
          </a:prstGeom>
          <a:solidFill>
            <a:srgbClr val="1E5BB8"/>
          </a:solidFill>
          <a:ln/>
        </p:spPr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764036" y="2337572"/>
            <a:ext cx="335768" cy="335768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3621024" y="3017520"/>
            <a:ext cx="206654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450" b="1" dirty="0">
                <a:solidFill>
                  <a:srgbClr val="0A1226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4 Consultores funcionales</a:t>
            </a:r>
            <a:endParaRPr lang="en-US" sz="1450" dirty="0"/>
          </a:p>
        </p:txBody>
      </p:sp>
      <p:sp>
        <p:nvSpPr>
          <p:cNvPr id="15" name="Text 10"/>
          <p:cNvSpPr/>
          <p:nvPr/>
        </p:nvSpPr>
        <p:spPr>
          <a:xfrm>
            <a:off x="3621024" y="3657600"/>
            <a:ext cx="206654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5E6B8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Finanzas, Compras/Ventas, Inventario, PP</a:t>
            </a:r>
            <a:endParaRPr lang="en-US" sz="1150" dirty="0"/>
          </a:p>
        </p:txBody>
      </p:sp>
      <p:sp>
        <p:nvSpPr>
          <p:cNvPr id="16" name="Shape 11"/>
          <p:cNvSpPr/>
          <p:nvPr/>
        </p:nvSpPr>
        <p:spPr>
          <a:xfrm>
            <a:off x="6089904" y="1920240"/>
            <a:ext cx="2578608" cy="2926080"/>
          </a:xfrm>
          <a:prstGeom prst="roundRect">
            <a:avLst>
              <a:gd name="adj" fmla="val 2837"/>
            </a:avLst>
          </a:prstGeom>
          <a:solidFill>
            <a:srgbClr val="FFFFFF"/>
          </a:solidFill>
          <a:ln w="12700">
            <a:solidFill>
              <a:srgbClr val="D8E2EE"/>
            </a:solidFill>
            <a:prstDash val="solid"/>
          </a:ln>
          <a:effectLst>
            <a:outerShdw sx="100000" sy="100000" kx="0" ky="0" algn="bl" rotWithShape="0" blurRad="114300" dist="38100" dir="5400000">
              <a:srgbClr val="9FB3CC">
                <a:alpha val="18000"/>
              </a:srgbClr>
            </a:outerShdw>
          </a:effectLst>
        </p:spPr>
      </p:sp>
      <p:sp>
        <p:nvSpPr>
          <p:cNvPr id="17" name="Shape 12"/>
          <p:cNvSpPr/>
          <p:nvPr/>
        </p:nvSpPr>
        <p:spPr>
          <a:xfrm>
            <a:off x="6345936" y="2194560"/>
            <a:ext cx="621792" cy="621792"/>
          </a:xfrm>
          <a:prstGeom prst="roundRect">
            <a:avLst>
              <a:gd name="adj" fmla="val 14706"/>
            </a:avLst>
          </a:prstGeom>
          <a:solidFill>
            <a:srgbClr val="0A1226"/>
          </a:solidFill>
          <a:ln/>
        </p:spPr>
      </p:sp>
      <p:pic>
        <p:nvPicPr>
          <p:cNvPr id="18" name="Image 3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88948" y="2337572"/>
            <a:ext cx="335768" cy="335768"/>
          </a:xfrm>
          <a:prstGeom prst="rect">
            <a:avLst/>
          </a:prstGeom>
        </p:spPr>
      </p:pic>
      <p:sp>
        <p:nvSpPr>
          <p:cNvPr id="19" name="Text 13"/>
          <p:cNvSpPr/>
          <p:nvPr/>
        </p:nvSpPr>
        <p:spPr>
          <a:xfrm>
            <a:off x="6345936" y="3017520"/>
            <a:ext cx="206654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450" b="1" dirty="0">
                <a:solidFill>
                  <a:srgbClr val="0A1226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Técnico ABAP</a:t>
            </a:r>
            <a:endParaRPr lang="en-US" sz="1450" dirty="0"/>
          </a:p>
        </p:txBody>
      </p:sp>
      <p:sp>
        <p:nvSpPr>
          <p:cNvPr id="20" name="Text 14"/>
          <p:cNvSpPr/>
          <p:nvPr/>
        </p:nvSpPr>
        <p:spPr>
          <a:xfrm>
            <a:off x="6345936" y="3657600"/>
            <a:ext cx="206654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5E6B8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Extensiones y desarrollos baseline</a:t>
            </a:r>
            <a:endParaRPr lang="en-US" sz="1150" dirty="0"/>
          </a:p>
        </p:txBody>
      </p:sp>
      <p:sp>
        <p:nvSpPr>
          <p:cNvPr id="21" name="Shape 15"/>
          <p:cNvSpPr/>
          <p:nvPr/>
        </p:nvSpPr>
        <p:spPr>
          <a:xfrm>
            <a:off x="8814816" y="1920240"/>
            <a:ext cx="2578608" cy="2926080"/>
          </a:xfrm>
          <a:prstGeom prst="roundRect">
            <a:avLst>
              <a:gd name="adj" fmla="val 2837"/>
            </a:avLst>
          </a:prstGeom>
          <a:solidFill>
            <a:srgbClr val="FFFFFF"/>
          </a:solidFill>
          <a:ln w="12700">
            <a:solidFill>
              <a:srgbClr val="D8E2EE"/>
            </a:solidFill>
            <a:prstDash val="solid"/>
          </a:ln>
          <a:effectLst>
            <a:outerShdw sx="100000" sy="100000" kx="0" ky="0" algn="bl" rotWithShape="0" blurRad="114300" dist="38100" dir="5400000">
              <a:srgbClr val="9FB3CC">
                <a:alpha val="18000"/>
              </a:srgbClr>
            </a:outerShdw>
          </a:effectLst>
        </p:spPr>
      </p:sp>
      <p:sp>
        <p:nvSpPr>
          <p:cNvPr id="22" name="Shape 16"/>
          <p:cNvSpPr/>
          <p:nvPr/>
        </p:nvSpPr>
        <p:spPr>
          <a:xfrm>
            <a:off x="9070848" y="2194560"/>
            <a:ext cx="621792" cy="621792"/>
          </a:xfrm>
          <a:prstGeom prst="roundRect">
            <a:avLst>
              <a:gd name="adj" fmla="val 14706"/>
            </a:avLst>
          </a:prstGeom>
          <a:solidFill>
            <a:srgbClr val="1E5BB8"/>
          </a:solidFill>
          <a:ln/>
        </p:spPr>
      </p:sp>
      <p:pic>
        <p:nvPicPr>
          <p:cNvPr id="23" name="Image 4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213860" y="2337572"/>
            <a:ext cx="335768" cy="335768"/>
          </a:xfrm>
          <a:prstGeom prst="rect">
            <a:avLst/>
          </a:prstGeom>
        </p:spPr>
      </p:pic>
      <p:sp>
        <p:nvSpPr>
          <p:cNvPr id="24" name="Text 17"/>
          <p:cNvSpPr/>
          <p:nvPr/>
        </p:nvSpPr>
        <p:spPr>
          <a:xfrm>
            <a:off x="9070848" y="3017520"/>
            <a:ext cx="206654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450" b="1" dirty="0">
                <a:solidFill>
                  <a:srgbClr val="0A1226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Basis</a:t>
            </a:r>
            <a:endParaRPr lang="en-US" sz="1450" dirty="0"/>
          </a:p>
        </p:txBody>
      </p:sp>
      <p:sp>
        <p:nvSpPr>
          <p:cNvPr id="25" name="Text 18"/>
          <p:cNvSpPr/>
          <p:nvPr/>
        </p:nvSpPr>
        <p:spPr>
          <a:xfrm>
            <a:off x="9070848" y="3657600"/>
            <a:ext cx="206654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5E6B8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Administración de sistema</a:t>
            </a:r>
            <a:endParaRPr lang="en-US" sz="11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decks/assets/logo_dark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149840" y="502920"/>
            <a:ext cx="1417320" cy="577877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822960" y="91440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200" kern="0" dirty="0">
                <a:solidFill>
                  <a:srgbClr val="33B4DD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INVERSIÓN BASELINE</a:t>
            </a:r>
            <a:endParaRPr lang="en-US" sz="1250" dirty="0"/>
          </a:p>
        </p:txBody>
      </p:sp>
      <p:sp>
        <p:nvSpPr>
          <p:cNvPr id="4" name="Text 1"/>
          <p:cNvSpPr/>
          <p:nvPr/>
        </p:nvSpPr>
        <p:spPr>
          <a:xfrm>
            <a:off x="786384" y="1207008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Precio de referencia total</a:t>
            </a:r>
            <a:endParaRPr lang="en-US" sz="3200" dirty="0"/>
          </a:p>
        </p:txBody>
      </p:sp>
      <p:sp>
        <p:nvSpPr>
          <p:cNvPr id="5" name="Shape 2"/>
          <p:cNvSpPr/>
          <p:nvPr/>
        </p:nvSpPr>
        <p:spPr>
          <a:xfrm>
            <a:off x="822960" y="2286000"/>
            <a:ext cx="5852160" cy="3383280"/>
          </a:xfrm>
          <a:prstGeom prst="roundRect">
            <a:avLst>
              <a:gd name="adj" fmla="val 2703"/>
            </a:avLst>
          </a:prstGeom>
          <a:solidFill>
            <a:srgbClr val="0C1B38"/>
          </a:solidFill>
          <a:ln w="12700">
            <a:solidFill>
              <a:srgbClr val="21407A"/>
            </a:solidFill>
            <a:prstDash val="solid"/>
          </a:ln>
          <a:effectLst>
            <a:outerShdw sx="100000" sy="100000" kx="0" ky="0" algn="bl" rotWithShape="0" blurRad="203200" dist="63500" dir="5400000">
              <a:srgbClr val="000000">
                <a:alpha val="40000"/>
              </a:srgbClr>
            </a:outerShdw>
          </a:effectLst>
        </p:spPr>
      </p:sp>
      <p:sp>
        <p:nvSpPr>
          <p:cNvPr id="6" name="Text 3"/>
          <p:cNvSpPr/>
          <p:nvPr/>
        </p:nvSpPr>
        <p:spPr>
          <a:xfrm>
            <a:off x="1143000" y="2606040"/>
            <a:ext cx="5303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33B4DD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SAP CLOUD ERP — PRIVATE EDITION</a:t>
            </a:r>
            <a:endParaRPr lang="en-US" sz="1200" dirty="0"/>
          </a:p>
        </p:txBody>
      </p:sp>
      <p:sp>
        <p:nvSpPr>
          <p:cNvPr id="7" name="Text 4"/>
          <p:cNvSpPr/>
          <p:nvPr/>
        </p:nvSpPr>
        <p:spPr>
          <a:xfrm>
            <a:off x="1097280" y="3017520"/>
            <a:ext cx="54864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6FD3F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USD </a:t>
            </a:r>
            <a:pPr algn="l" indent="0" marL="0">
              <a:buNone/>
            </a:pPr>
            <a:r>
              <a:rPr lang="en-US" sz="58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205,000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1143000" y="4114800"/>
            <a:ext cx="5303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AEC3E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Precio baseline — sujeto a alcance final tras workshop de scoping.</a:t>
            </a:r>
            <a:endParaRPr lang="en-US" sz="1400" dirty="0"/>
          </a:p>
        </p:txBody>
      </p:sp>
      <p:sp>
        <p:nvSpPr>
          <p:cNvPr id="9" name="Shape 6"/>
          <p:cNvSpPr/>
          <p:nvPr/>
        </p:nvSpPr>
        <p:spPr>
          <a:xfrm>
            <a:off x="6995160" y="2286000"/>
            <a:ext cx="4370832" cy="1005840"/>
          </a:xfrm>
          <a:prstGeom prst="roundRect">
            <a:avLst>
              <a:gd name="adj" fmla="val 7273"/>
            </a:avLst>
          </a:prstGeom>
          <a:solidFill>
            <a:srgbClr val="0C1B38"/>
          </a:solidFill>
          <a:ln w="12700">
            <a:solidFill>
              <a:srgbClr val="21407A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7251192" y="2505456"/>
            <a:ext cx="548640" cy="548640"/>
          </a:xfrm>
          <a:prstGeom prst="roundRect">
            <a:avLst>
              <a:gd name="adj" fmla="val 16667"/>
            </a:avLst>
          </a:prstGeom>
          <a:solidFill>
            <a:srgbClr val="1E5BB8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77379" y="2631643"/>
            <a:ext cx="296266" cy="296266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7955280" y="2432304"/>
            <a:ext cx="31821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16–24 semanas</a:t>
            </a:r>
            <a:endParaRPr lang="en-US" sz="1900" dirty="0"/>
          </a:p>
        </p:txBody>
      </p:sp>
      <p:sp>
        <p:nvSpPr>
          <p:cNvPr id="13" name="Text 9"/>
          <p:cNvSpPr/>
          <p:nvPr/>
        </p:nvSpPr>
        <p:spPr>
          <a:xfrm>
            <a:off x="7955280" y="2852928"/>
            <a:ext cx="318211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AEC3E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duración estimada</a:t>
            </a:r>
            <a:endParaRPr lang="en-US" sz="1150" dirty="0"/>
          </a:p>
        </p:txBody>
      </p:sp>
      <p:sp>
        <p:nvSpPr>
          <p:cNvPr id="14" name="Shape 10"/>
          <p:cNvSpPr/>
          <p:nvPr/>
        </p:nvSpPr>
        <p:spPr>
          <a:xfrm>
            <a:off x="6995160" y="3419856"/>
            <a:ext cx="4370832" cy="1005840"/>
          </a:xfrm>
          <a:prstGeom prst="roundRect">
            <a:avLst>
              <a:gd name="adj" fmla="val 7273"/>
            </a:avLst>
          </a:prstGeom>
          <a:solidFill>
            <a:srgbClr val="0C1B38"/>
          </a:solidFill>
          <a:ln w="12700">
            <a:solidFill>
              <a:srgbClr val="21407A"/>
            </a:solidFill>
            <a:prstDash val="solid"/>
          </a:ln>
        </p:spPr>
      </p:sp>
      <p:sp>
        <p:nvSpPr>
          <p:cNvPr id="15" name="Shape 11"/>
          <p:cNvSpPr/>
          <p:nvPr/>
        </p:nvSpPr>
        <p:spPr>
          <a:xfrm>
            <a:off x="7251192" y="3639312"/>
            <a:ext cx="548640" cy="548640"/>
          </a:xfrm>
          <a:prstGeom prst="roundRect">
            <a:avLst>
              <a:gd name="adj" fmla="val 16667"/>
            </a:avLst>
          </a:prstGeom>
          <a:solidFill>
            <a:srgbClr val="1E5BB8"/>
          </a:solidFill>
          <a:ln/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377379" y="3765499"/>
            <a:ext cx="296266" cy="296266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7955280" y="3566160"/>
            <a:ext cx="31821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4 roles</a:t>
            </a:r>
            <a:endParaRPr lang="en-US" sz="1900" dirty="0"/>
          </a:p>
        </p:txBody>
      </p:sp>
      <p:sp>
        <p:nvSpPr>
          <p:cNvPr id="18" name="Text 13"/>
          <p:cNvSpPr/>
          <p:nvPr/>
        </p:nvSpPr>
        <p:spPr>
          <a:xfrm>
            <a:off x="7955280" y="3986784"/>
            <a:ext cx="318211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AEC3E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equipo típico</a:t>
            </a:r>
            <a:endParaRPr lang="en-US" sz="1150" dirty="0"/>
          </a:p>
        </p:txBody>
      </p:sp>
      <p:sp>
        <p:nvSpPr>
          <p:cNvPr id="19" name="Shape 14"/>
          <p:cNvSpPr/>
          <p:nvPr/>
        </p:nvSpPr>
        <p:spPr>
          <a:xfrm>
            <a:off x="6995160" y="4553712"/>
            <a:ext cx="4370832" cy="1005840"/>
          </a:xfrm>
          <a:prstGeom prst="roundRect">
            <a:avLst>
              <a:gd name="adj" fmla="val 7273"/>
            </a:avLst>
          </a:prstGeom>
          <a:solidFill>
            <a:srgbClr val="0C1B38"/>
          </a:solidFill>
          <a:ln w="12700">
            <a:solidFill>
              <a:srgbClr val="21407A"/>
            </a:solidFill>
            <a:prstDash val="solid"/>
          </a:ln>
        </p:spPr>
      </p:sp>
      <p:sp>
        <p:nvSpPr>
          <p:cNvPr id="20" name="Shape 15"/>
          <p:cNvSpPr/>
          <p:nvPr/>
        </p:nvSpPr>
        <p:spPr>
          <a:xfrm>
            <a:off x="7251192" y="4773168"/>
            <a:ext cx="548640" cy="548640"/>
          </a:xfrm>
          <a:prstGeom prst="roundRect">
            <a:avLst>
              <a:gd name="adj" fmla="val 16667"/>
            </a:avLst>
          </a:prstGeom>
          <a:solidFill>
            <a:srgbClr val="1E5BB8"/>
          </a:solidFill>
          <a:ln/>
        </p:spPr>
      </p:sp>
      <p:pic>
        <p:nvPicPr>
          <p:cNvPr id="21" name="Image 3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377379" y="4899355"/>
            <a:ext cx="296266" cy="296266"/>
          </a:xfrm>
          <a:prstGeom prst="rect">
            <a:avLst/>
          </a:prstGeom>
        </p:spPr>
      </p:pic>
      <p:sp>
        <p:nvSpPr>
          <p:cNvPr id="22" name="Text 16"/>
          <p:cNvSpPr/>
          <p:nvPr/>
        </p:nvSpPr>
        <p:spPr>
          <a:xfrm>
            <a:off x="7955280" y="4700016"/>
            <a:ext cx="31821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6 módulos</a:t>
            </a:r>
            <a:endParaRPr lang="en-US" sz="1900" dirty="0"/>
          </a:p>
        </p:txBody>
      </p:sp>
      <p:sp>
        <p:nvSpPr>
          <p:cNvPr id="23" name="Text 17"/>
          <p:cNvSpPr/>
          <p:nvPr/>
        </p:nvSpPr>
        <p:spPr>
          <a:xfrm>
            <a:off x="7955280" y="5120640"/>
            <a:ext cx="318211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AEC3E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incluidos en baseline</a:t>
            </a:r>
            <a:endParaRPr lang="en-US" sz="1150" dirty="0"/>
          </a:p>
        </p:txBody>
      </p:sp>
      <p:sp>
        <p:nvSpPr>
          <p:cNvPr id="24" name="Text 18"/>
          <p:cNvSpPr/>
          <p:nvPr/>
        </p:nvSpPr>
        <p:spPr>
          <a:xfrm>
            <a:off x="11368735" y="640080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A97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07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decks/assets/logo_dark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07128" y="1234440"/>
            <a:ext cx="2377440" cy="969342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914400" y="2468880"/>
            <a:ext cx="10332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dirty="0">
                <a:solidFill>
                  <a:srgbClr val="C9D8EE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¿Listos para empezar?</a:t>
            </a:r>
            <a:endParaRPr lang="en-US" sz="2600" dirty="0"/>
          </a:p>
        </p:txBody>
      </p:sp>
      <p:sp>
        <p:nvSpPr>
          <p:cNvPr id="4" name="Text 1"/>
          <p:cNvSpPr/>
          <p:nvPr/>
        </p:nvSpPr>
        <p:spPr>
          <a:xfrm>
            <a:off x="914400" y="3017520"/>
            <a:ext cx="10332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Hablemos de tu proyecto</a:t>
            </a:r>
            <a:endParaRPr lang="en-US" sz="3600" dirty="0"/>
          </a:p>
        </p:txBody>
      </p:sp>
      <p:sp>
        <p:nvSpPr>
          <p:cNvPr id="5" name="Shape 2"/>
          <p:cNvSpPr/>
          <p:nvPr/>
        </p:nvSpPr>
        <p:spPr>
          <a:xfrm>
            <a:off x="5184648" y="3977640"/>
            <a:ext cx="1828800" cy="0"/>
          </a:xfrm>
          <a:prstGeom prst="line">
            <a:avLst/>
          </a:prstGeom>
          <a:noFill/>
          <a:ln w="31750">
            <a:solidFill>
              <a:srgbClr val="33B4DD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914400" y="4206240"/>
            <a:ext cx="10332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6FD3F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Este documento es una referencia interna de SEIDOR — no constituye una cotización formal.</a:t>
            </a:r>
            <a:endParaRPr lang="en-US" sz="1500" dirty="0"/>
          </a:p>
        </p:txBody>
      </p:sp>
      <p:sp>
        <p:nvSpPr>
          <p:cNvPr id="7" name="Text 4"/>
          <p:cNvSpPr/>
          <p:nvPr/>
        </p:nvSpPr>
        <p:spPr>
          <a:xfrm>
            <a:off x="914400" y="6263640"/>
            <a:ext cx="10332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A97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seidor.com  ·  SEIDOR | 2026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SEIDOR — SAP Cloud ERP — Private Edition — Alcance baseline</dc:title>
  <dc:subject>PptxGenJS Presentation</dc:subject>
  <dc:creator>SEIDOR</dc:creator>
  <cp:lastModifiedBy>SEIDOR</cp:lastModifiedBy>
  <cp:revision>1</cp:revision>
  <dcterms:created xsi:type="dcterms:W3CDTF">2026-08-06T17:24:19Z</dcterms:created>
  <dcterms:modified xsi:type="dcterms:W3CDTF">2026-08-06T17:24:19Z</dcterms:modified>
</cp:coreProperties>
</file>