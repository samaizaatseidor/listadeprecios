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s/assets/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502920"/>
            <a:ext cx="1417320" cy="5778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194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AMS TIER 2 — BASELINE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786384" y="2651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C9D8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Paquete baseline de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86384" y="32461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soporte AMS SAP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822960" y="4892040"/>
            <a:ext cx="0" cy="868680"/>
          </a:xfrm>
          <a:prstGeom prst="line">
            <a:avLst/>
          </a:prstGeom>
          <a:noFill/>
          <a:ln w="31750">
            <a:solidFill>
              <a:srgbClr val="33B4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4128" y="4937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PAQUETE DE REFERENCIA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5840" y="51755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 horas/mes · 3 meses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6263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Documento interno · Uso comercial · Sujeto a validación de alcance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RESUMEN EJECUTIVO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¿Qué incluye este baseline?</a:t>
            </a:r>
            <a:endParaRPr lang="en-US" sz="2800" dirty="0"/>
          </a:p>
        </p:txBody>
      </p:sp>
      <p:pic>
        <p:nvPicPr>
          <p:cNvPr id="4" name="Image 0" descr="/home/claude/decks/assets/log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02920"/>
            <a:ext cx="1417320" cy="577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5727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Paquete de entrada al modelo AMS Tier 2 de SEIDOR: soporte funcional y técnico multi-módulo bajo metodología ITIL, con una bolsa mensual fija de 40 horas distribuidas entre las áreas de mayor demanda operativa.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35295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3CC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788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A122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93" y="2919313"/>
            <a:ext cx="306141" cy="3061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352044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VIGENCIA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14400" y="379476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meses (renovable)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4315968" y="2514600"/>
            <a:ext cx="35295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3CC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90288" y="2788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E5BB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681" y="2919313"/>
            <a:ext cx="306141" cy="30614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90288" y="352044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CAPACIDAD MENSUAL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590288" y="379476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 horas / mes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7991856" y="2514600"/>
            <a:ext cx="35295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3CC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266176" y="2788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A122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6569" y="2919313"/>
            <a:ext cx="306141" cy="30614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66176" y="352044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INVERSIÓN MENSUAL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8266176" y="379476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USD 4,076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ALCANCE DEL BASELINE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Distribución de las 40 horas mensuales</a:t>
            </a:r>
            <a:endParaRPr lang="en-US" sz="2800" dirty="0"/>
          </a:p>
        </p:txBody>
      </p:sp>
      <p:pic>
        <p:nvPicPr>
          <p:cNvPr id="4" name="Image 0" descr="/home/claude/decks/assets/log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02920"/>
            <a:ext cx="1417320" cy="577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5727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bolsa mensual se distribuye entre las disciplinas de mayor volumen de tickets, con respaldo de especialistas por módulo.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2578608" cy="30175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3CC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77824" y="258775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A122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" y="2713939"/>
            <a:ext cx="296266" cy="29626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77824" y="33375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 h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877824" y="3867912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5B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Funcional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877824" y="420624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 · CO · MM · SD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364992" y="2331720"/>
            <a:ext cx="2578608" cy="30175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3CC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02736" y="258775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5BB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8923" y="2713939"/>
            <a:ext cx="296266" cy="29626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02736" y="33375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h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3602736" y="3867912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5B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ABAP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602736" y="420624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Desarrollos Z y workflows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089904" y="2331720"/>
            <a:ext cx="2578608" cy="30175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3CC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27648" y="258775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A122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835" y="2713939"/>
            <a:ext cx="296266" cy="2962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27648" y="33375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h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6327648" y="3867912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5B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Basis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327648" y="420624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Roles, transportes, monitoreo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8814816" y="2331720"/>
            <a:ext cx="2578608" cy="30175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3CC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052560" y="258775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5BB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8747" y="2713939"/>
            <a:ext cx="296266" cy="29626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052560" y="33375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h</a:t>
            </a:r>
            <a:endParaRPr lang="en-US" sz="2600" dirty="0"/>
          </a:p>
        </p:txBody>
      </p:sp>
      <p:sp>
        <p:nvSpPr>
          <p:cNvPr id="29" name="Text 22"/>
          <p:cNvSpPr/>
          <p:nvPr/>
        </p:nvSpPr>
        <p:spPr>
          <a:xfrm>
            <a:off x="9052560" y="3867912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5B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9052560" y="420624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Gobierno y reporting del servicio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MODELO DE SOPORTE ITIL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Niveles de servicio (SLA)</a:t>
            </a:r>
            <a:endParaRPr lang="en-US" sz="2800" dirty="0"/>
          </a:p>
        </p:txBody>
      </p:sp>
      <p:pic>
        <p:nvPicPr>
          <p:cNvPr id="4" name="Image 0" descr="/home/claude/decks/assets/log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02920"/>
            <a:ext cx="1417320" cy="577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NIVEL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06324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DEFINICIÓN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81812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RESPUESTA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96696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RESOLUCIÓN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" y="2011680"/>
            <a:ext cx="10881360" cy="0"/>
          </a:xfrm>
          <a:prstGeom prst="line">
            <a:avLst/>
          </a:prstGeom>
          <a:noFill/>
          <a:ln w="12700">
            <a:solidFill>
              <a:srgbClr val="D8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2128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S1 — Crítica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063240" y="22128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Paro total de operaciones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818120" y="2212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h hábiles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966960" y="22128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h hábiles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2761488"/>
            <a:ext cx="10881360" cy="0"/>
          </a:xfrm>
          <a:prstGeom prst="line">
            <a:avLst/>
          </a:prstGeom>
          <a:noFill/>
          <a:ln w="9525">
            <a:solidFill>
              <a:srgbClr val="D8E2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C1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S2 — Alta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063240" y="2834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Afectación significativa a proceso crítico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818120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h hábiles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966960" y="2834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 h hábiles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" y="3383280"/>
            <a:ext cx="10881360" cy="0"/>
          </a:xfrm>
          <a:prstGeom prst="line">
            <a:avLst/>
          </a:prstGeom>
          <a:noFill/>
          <a:ln w="9525">
            <a:solidFill>
              <a:srgbClr val="D8E2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34564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B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S3 — Media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063240" y="34564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Afectación parcial, existe alternativa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818120" y="34564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h hábiles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966960" y="34564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 h hábiles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40080" y="4005072"/>
            <a:ext cx="10881360" cy="0"/>
          </a:xfrm>
          <a:prstGeom prst="line">
            <a:avLst/>
          </a:prstGeom>
          <a:noFill/>
          <a:ln w="9525">
            <a:solidFill>
              <a:srgbClr val="D8E2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40782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S4 — Baja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063240" y="40782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Consulta o mejora menor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818120" y="40782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 h hábiles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966960" y="40782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Siguiente mes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40080" y="48920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Horario regular: lunes a viernes, 09:00–18:00 hrs. (CDMX) · Cumplimiento mensual mínimo: 90% en S1, 85% en el resto · Modalidad 100% remota.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 DE CONTINUAR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Premisas y supuestos</a:t>
            </a:r>
            <a:endParaRPr lang="en-US" sz="2800" dirty="0"/>
          </a:p>
        </p:txBody>
      </p:sp>
      <p:pic>
        <p:nvPicPr>
          <p:cNvPr id="4" name="Image 0" descr="/home/claude/decks/assets/log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02920"/>
            <a:ext cx="1417320" cy="577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5727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Este documento es una referencia baseline para conversación comercial interna, no una cotización formal ni un contrato. Los siguientes supuestos aplican: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1088136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3C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60120" y="2606040"/>
            <a:ext cx="10241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 baseline de referencia — no constituye una cotización formal; el alcance final y precio se confirman según el entorno SAP del cliente.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requerimiento dentro del modelo AMS no puede exceder 5 días calendario o 40 horas; atención mayor se cotiza como proyecto aparte.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cliente provee accesos a sistemas, disponibilidad de usuarios clave y herramienta de tickets, así como licencias SAP y VPN necesarias.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calidad e integridad de los datos maestros es responsabilidad del cliente; no son atribuibles al AMS salvo validación conjunta.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incluye proyectos, reingenierías, upgrades, rollouts ni implementación de nuevos módulos — se cotizan de forma independiente.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CÓMO OPERAMOS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 de incidentes bajo ITIL</a:t>
            </a:r>
            <a:endParaRPr lang="en-US" sz="2800" dirty="0"/>
          </a:p>
        </p:txBody>
      </p:sp>
      <p:pic>
        <p:nvPicPr>
          <p:cNvPr id="4" name="Image 0" descr="/home/claude/decks/assets/log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02920"/>
            <a:ext cx="1417320" cy="577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5727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Operamos bajo un marco ITIL con ciclo completo de gestión de incidentes, desde el registro hasta el cierre formal con documentación de la solución.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453896" y="2377440"/>
            <a:ext cx="402336" cy="402336"/>
          </a:xfrm>
          <a:prstGeom prst="ellipse">
            <a:avLst/>
          </a:prstGeom>
          <a:solidFill>
            <a:srgbClr val="0A1226"/>
          </a:solidFill>
          <a:ln/>
        </p:spPr>
      </p:sp>
      <p:sp>
        <p:nvSpPr>
          <p:cNvPr id="8" name="Text 5"/>
          <p:cNvSpPr/>
          <p:nvPr/>
        </p:nvSpPr>
        <p:spPr>
          <a:xfrm>
            <a:off x="1453896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670048" y="2578608"/>
            <a:ext cx="109728" cy="0"/>
          </a:xfrm>
          <a:prstGeom prst="line">
            <a:avLst/>
          </a:prstGeom>
          <a:noFill/>
          <a:ln w="19050">
            <a:solidFill>
              <a:srgbClr val="D8E2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97180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Registro y clasificación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severidad (S1–S4)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593592" y="2377440"/>
            <a:ext cx="402336" cy="402336"/>
          </a:xfrm>
          <a:prstGeom prst="ellipse">
            <a:avLst/>
          </a:prstGeom>
          <a:solidFill>
            <a:srgbClr val="1E5BB8"/>
          </a:solidFill>
          <a:ln/>
        </p:spPr>
      </p:sp>
      <p:sp>
        <p:nvSpPr>
          <p:cNvPr id="12" name="Text 9"/>
          <p:cNvSpPr/>
          <p:nvPr/>
        </p:nvSpPr>
        <p:spPr>
          <a:xfrm>
            <a:off x="3593592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809744" y="2578608"/>
            <a:ext cx="109728" cy="0"/>
          </a:xfrm>
          <a:prstGeom prst="line">
            <a:avLst/>
          </a:prstGeom>
          <a:noFill/>
          <a:ln w="19050">
            <a:solidFill>
              <a:srgbClr val="D8E2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79776" y="297180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Asignación al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especialista del módulo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733288" y="2377440"/>
            <a:ext cx="402336" cy="402336"/>
          </a:xfrm>
          <a:prstGeom prst="ellipse">
            <a:avLst/>
          </a:prstGeom>
          <a:solidFill>
            <a:srgbClr val="0A1226"/>
          </a:solidFill>
          <a:ln/>
        </p:spPr>
      </p:sp>
      <p:sp>
        <p:nvSpPr>
          <p:cNvPr id="16" name="Text 13"/>
          <p:cNvSpPr/>
          <p:nvPr/>
        </p:nvSpPr>
        <p:spPr>
          <a:xfrm>
            <a:off x="5733288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949440" y="2578608"/>
            <a:ext cx="109728" cy="0"/>
          </a:xfrm>
          <a:prstGeom prst="line">
            <a:avLst/>
          </a:prstGeom>
          <a:noFill/>
          <a:ln w="19050">
            <a:solidFill>
              <a:srgbClr val="D8E2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19472" y="297180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de causa raíz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(S1 y S2)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872984" y="2377440"/>
            <a:ext cx="402336" cy="402336"/>
          </a:xfrm>
          <a:prstGeom prst="ellipse">
            <a:avLst/>
          </a:prstGeom>
          <a:solidFill>
            <a:srgbClr val="1E5BB8"/>
          </a:solidFill>
          <a:ln/>
        </p:spPr>
      </p:sp>
      <p:sp>
        <p:nvSpPr>
          <p:cNvPr id="20" name="Text 17"/>
          <p:cNvSpPr/>
          <p:nvPr/>
        </p:nvSpPr>
        <p:spPr>
          <a:xfrm>
            <a:off x="7872984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089136" y="2578608"/>
            <a:ext cx="109728" cy="0"/>
          </a:xfrm>
          <a:prstGeom prst="line">
            <a:avLst/>
          </a:prstGeom>
          <a:noFill/>
          <a:ln w="19050">
            <a:solidFill>
              <a:srgbClr val="D8E2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59168" y="297180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Comunicación continua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 el usuario clave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0012680" y="2377440"/>
            <a:ext cx="402336" cy="402336"/>
          </a:xfrm>
          <a:prstGeom prst="ellipse">
            <a:avLst/>
          </a:prstGeom>
          <a:solidFill>
            <a:srgbClr val="0A1226"/>
          </a:solidFill>
          <a:ln/>
        </p:spPr>
      </p:sp>
      <p:sp>
        <p:nvSpPr>
          <p:cNvPr id="24" name="Text 21"/>
          <p:cNvSpPr/>
          <p:nvPr/>
        </p:nvSpPr>
        <p:spPr>
          <a:xfrm>
            <a:off x="10012680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198864" y="297180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Cierre formal y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recomendaciones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008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Reporteo mensual: SLA Compliance · First Response Time · Resolution Time · Backlog Aging · Reopen Rate · Horas por módulo.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s/assets/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502920"/>
            <a:ext cx="1417320" cy="5778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9144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INVERSIÓN BASELINE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86384" y="12070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 de referencia mensual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2286000"/>
            <a:ext cx="5852160" cy="3383280"/>
          </a:xfrm>
          <a:prstGeom prst="roundRect">
            <a:avLst>
              <a:gd name="adj" fmla="val 2703"/>
            </a:avLst>
          </a:prstGeom>
          <a:solidFill>
            <a:srgbClr val="0C1B38"/>
          </a:solidFill>
          <a:ln w="12700">
            <a:solidFill>
              <a:srgbClr val="21407A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143000" y="2606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AMS TIER 2 — BASELINE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7280" y="30175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FD3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USD </a:t>
            </a:r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4,076</a:t>
            </a:r>
            <a:pPr algn="l" indent="0" marL="0">
              <a:buNone/>
            </a:pPr>
            <a:r>
              <a:rPr lang="en-US" sz="2200" b="1" dirty="0">
                <a:solidFill>
                  <a:srgbClr val="C9D8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/mes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143000" y="41148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C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 baseline — 3 meses (renovable). Bolsa contingente adicional cotizable por hora.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995160" y="2286000"/>
            <a:ext cx="4370832" cy="1005840"/>
          </a:xfrm>
          <a:prstGeom prst="roundRect">
            <a:avLst>
              <a:gd name="adj" fmla="val 7273"/>
            </a:avLst>
          </a:prstGeom>
          <a:solidFill>
            <a:srgbClr val="0C1B38"/>
          </a:solidFill>
          <a:ln w="12700">
            <a:solidFill>
              <a:srgbClr val="21407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51192" y="250545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5BB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7379" y="2631643"/>
            <a:ext cx="296266" cy="2962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955280" y="2432304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meses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955280" y="2852928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vigencia inicial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995160" y="3419856"/>
            <a:ext cx="4370832" cy="1005840"/>
          </a:xfrm>
          <a:prstGeom prst="roundRect">
            <a:avLst>
              <a:gd name="adj" fmla="val 7273"/>
            </a:avLst>
          </a:prstGeom>
          <a:solidFill>
            <a:srgbClr val="0C1B38"/>
          </a:solidFill>
          <a:ln w="12700">
            <a:solidFill>
              <a:srgbClr val="21407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51192" y="363931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5BB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379" y="3765499"/>
            <a:ext cx="296266" cy="2962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55280" y="3566160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 h / mes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7955280" y="3986784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capacidad base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995160" y="4553712"/>
            <a:ext cx="4370832" cy="1005840"/>
          </a:xfrm>
          <a:prstGeom prst="roundRect">
            <a:avLst>
              <a:gd name="adj" fmla="val 7273"/>
            </a:avLst>
          </a:prstGeom>
          <a:solidFill>
            <a:srgbClr val="0C1B38"/>
          </a:solidFill>
          <a:ln w="12700">
            <a:solidFill>
              <a:srgbClr val="21407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251192" y="477316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5BB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7379" y="4899355"/>
            <a:ext cx="296266" cy="2962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955280" y="4700016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módulos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955280" y="5120640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FI/CO/MM/SD + ABAP + Basis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s/assets/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128" y="1234440"/>
            <a:ext cx="2377440" cy="9693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4688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D8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¿Listos para empezar?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Hablemos de tu operación SAP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84648" y="3977640"/>
            <a:ext cx="1828800" cy="0"/>
          </a:xfrm>
          <a:prstGeom prst="line">
            <a:avLst/>
          </a:prstGeom>
          <a:noFill/>
          <a:ln w="31750">
            <a:solidFill>
              <a:srgbClr val="33B4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FD3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Este documento es una referencia interna de SEIDOR — no constituye una cotización formal.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62636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seidor.com  ·  SEIDOR |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SEIDOR — AMS Baseline — Alcance</dc:title>
  <dc:subject>PptxGenJS Presentation</dc:subject>
  <dc:creator>SEIDOR</dc:creator>
  <cp:lastModifiedBy>SEIDOR</cp:lastModifiedBy>
  <cp:revision>1</cp:revision>
  <dcterms:created xsi:type="dcterms:W3CDTF">2026-08-06T17:25:50Z</dcterms:created>
  <dcterms:modified xsi:type="dcterms:W3CDTF">2026-08-06T17:25:50Z</dcterms:modified>
</cp:coreProperties>
</file>