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deck/assets/logo_dark.png">    </p:cNvPr>
          <p:cNvPicPr>
            <a:picLocks noChangeAspect="1"/>
          </p:cNvPicPr>
          <p:nvPr/>
        </p:nvPicPr>
        <p:blipFill>
          <a:blip r:embed="rId2"/>
          <a:stretch>
            <a:fillRect/>
          </a:stretch>
        </p:blipFill>
        <p:spPr>
          <a:xfrm>
            <a:off x="10149840" y="502920"/>
            <a:ext cx="1417320" cy="577877"/>
          </a:xfrm>
          <a:prstGeom prst="rect">
            <a:avLst/>
          </a:prstGeom>
        </p:spPr>
      </p:pic>
      <p:sp>
        <p:nvSpPr>
          <p:cNvPr id="3" name="Text 0"/>
          <p:cNvSpPr/>
          <p:nvPr/>
        </p:nvSpPr>
        <p:spPr>
          <a:xfrm>
            <a:off x="822960" y="2194560"/>
            <a:ext cx="9144000" cy="365760"/>
          </a:xfrm>
          <a:prstGeom prst="rect">
            <a:avLst/>
          </a:prstGeom>
          <a:noFill/>
          <a:ln/>
        </p:spPr>
        <p:txBody>
          <a:bodyPr wrap="square" lIns="0" tIns="0" rIns="0" bIns="0" rtlCol="0" anchor="ctr"/>
          <a:lstStyle/>
          <a:p>
            <a:pPr indent="0" marL="0">
              <a:buNone/>
            </a:pPr>
            <a:r>
              <a:rPr lang="en-US" sz="1500" b="1" spc="300" kern="0" dirty="0">
                <a:solidFill>
                  <a:srgbClr val="33B4DD"/>
                </a:solidFill>
                <a:latin typeface="Poppins" pitchFamily="34" charset="0"/>
                <a:ea typeface="Poppins" pitchFamily="34" charset="-122"/>
                <a:cs typeface="Poppins" pitchFamily="34" charset="-120"/>
              </a:rPr>
              <a:t>OFERTA DE SERVICIOS SAP</a:t>
            </a:r>
            <a:endParaRPr lang="en-US" sz="1500" dirty="0"/>
          </a:p>
        </p:txBody>
      </p:sp>
      <p:sp>
        <p:nvSpPr>
          <p:cNvPr id="4" name="Text 1"/>
          <p:cNvSpPr/>
          <p:nvPr/>
        </p:nvSpPr>
        <p:spPr>
          <a:xfrm>
            <a:off x="786384" y="2651760"/>
            <a:ext cx="10607040" cy="868680"/>
          </a:xfrm>
          <a:prstGeom prst="rect">
            <a:avLst/>
          </a:prstGeom>
          <a:noFill/>
          <a:ln/>
        </p:spPr>
        <p:txBody>
          <a:bodyPr wrap="square" lIns="0" tIns="0" rIns="0" bIns="0" rtlCol="0" anchor="ctr"/>
          <a:lstStyle/>
          <a:p>
            <a:pPr indent="0" marL="0">
              <a:buNone/>
            </a:pPr>
            <a:r>
              <a:rPr lang="en-US" sz="5000" b="1" dirty="0">
                <a:solidFill>
                  <a:srgbClr val="FFFFFF"/>
                </a:solidFill>
                <a:latin typeface="Poppins" pitchFamily="34" charset="0"/>
                <a:ea typeface="Poppins" pitchFamily="34" charset="-122"/>
                <a:cs typeface="Poppins" pitchFamily="34" charset="-120"/>
              </a:rPr>
              <a:t>Time &amp; Material</a:t>
            </a:r>
            <a:endParaRPr lang="en-US" sz="5000" dirty="0"/>
          </a:p>
        </p:txBody>
      </p:sp>
      <p:sp>
        <p:nvSpPr>
          <p:cNvPr id="5" name="Text 2"/>
          <p:cNvSpPr/>
          <p:nvPr/>
        </p:nvSpPr>
        <p:spPr>
          <a:xfrm>
            <a:off x="804672" y="3429000"/>
            <a:ext cx="9692640" cy="502920"/>
          </a:xfrm>
          <a:prstGeom prst="rect">
            <a:avLst/>
          </a:prstGeom>
          <a:noFill/>
          <a:ln/>
        </p:spPr>
        <p:txBody>
          <a:bodyPr wrap="square" lIns="0" tIns="0" rIns="0" bIns="0" rtlCol="0" anchor="ctr"/>
          <a:lstStyle/>
          <a:p>
            <a:pPr indent="0" marL="0">
              <a:buNone/>
            </a:pPr>
            <a:r>
              <a:rPr lang="en-US" sz="2000" dirty="0">
                <a:solidFill>
                  <a:srgbClr val="C9D8EE"/>
                </a:solidFill>
                <a:latin typeface="Poppins" pitchFamily="34" charset="0"/>
                <a:ea typeface="Poppins" pitchFamily="34" charset="-122"/>
                <a:cs typeface="Poppins" pitchFamily="34" charset="-120"/>
              </a:rPr>
              <a:t>Servicio paquetizado de Consultoría SAP</a:t>
            </a:r>
            <a:endParaRPr lang="en-US" sz="2000" dirty="0"/>
          </a:p>
        </p:txBody>
      </p:sp>
      <p:sp>
        <p:nvSpPr>
          <p:cNvPr id="6" name="Shape 3"/>
          <p:cNvSpPr/>
          <p:nvPr/>
        </p:nvSpPr>
        <p:spPr>
          <a:xfrm>
            <a:off x="822960" y="4892040"/>
            <a:ext cx="0" cy="868680"/>
          </a:xfrm>
          <a:prstGeom prst="line">
            <a:avLst/>
          </a:prstGeom>
          <a:noFill/>
          <a:ln w="31750">
            <a:solidFill>
              <a:srgbClr val="33B4DD"/>
            </a:solidFill>
            <a:prstDash val="solid"/>
          </a:ln>
        </p:spPr>
      </p:sp>
      <p:sp>
        <p:nvSpPr>
          <p:cNvPr id="7" name="Text 4"/>
          <p:cNvSpPr/>
          <p:nvPr/>
        </p:nvSpPr>
        <p:spPr>
          <a:xfrm>
            <a:off x="1024128" y="4937760"/>
            <a:ext cx="5486400" cy="274320"/>
          </a:xfrm>
          <a:prstGeom prst="rect">
            <a:avLst/>
          </a:prstGeom>
          <a:noFill/>
          <a:ln/>
        </p:spPr>
        <p:txBody>
          <a:bodyPr wrap="square" lIns="0" tIns="0" rIns="0" bIns="0" rtlCol="0" anchor="ctr"/>
          <a:lstStyle/>
          <a:p>
            <a:pPr indent="0" marL="0">
              <a:buNone/>
            </a:pPr>
            <a:r>
              <a:rPr lang="en-US" sz="1100" spc="200" kern="0" dirty="0">
                <a:solidFill>
                  <a:srgbClr val="8A97AC"/>
                </a:solidFill>
                <a:latin typeface="Poppins" pitchFamily="34" charset="0"/>
                <a:ea typeface="Poppins" pitchFamily="34" charset="-122"/>
                <a:cs typeface="Poppins" pitchFamily="34" charset="-120"/>
              </a:rPr>
              <a:t>PREPARADO PARA</a:t>
            </a:r>
            <a:endParaRPr lang="en-US" sz="1100" dirty="0"/>
          </a:p>
        </p:txBody>
      </p:sp>
      <p:sp>
        <p:nvSpPr>
          <p:cNvPr id="8" name="Text 5"/>
          <p:cNvSpPr/>
          <p:nvPr/>
        </p:nvSpPr>
        <p:spPr>
          <a:xfrm>
            <a:off x="1005840" y="5175504"/>
            <a:ext cx="7315200" cy="502920"/>
          </a:xfrm>
          <a:prstGeom prst="rect">
            <a:avLst/>
          </a:prstGeom>
          <a:noFill/>
          <a:ln/>
        </p:spPr>
        <p:txBody>
          <a:bodyPr wrap="square" lIns="0" tIns="0" rIns="0" bIns="0" rtlCol="0" anchor="ctr"/>
          <a:lstStyle/>
          <a:p>
            <a:pPr indent="0" marL="0">
              <a:buNone/>
            </a:pPr>
            <a:r>
              <a:rPr lang="en-US" sz="2600" b="1" dirty="0">
                <a:solidFill>
                  <a:srgbClr val="FFFFFF"/>
                </a:solidFill>
                <a:latin typeface="Poppins" pitchFamily="34" charset="0"/>
                <a:ea typeface="Poppins" pitchFamily="34" charset="-122"/>
                <a:cs typeface="Poppins" pitchFamily="34" charset="-120"/>
              </a:rPr>
              <a:t>Equipo Comercial SEIDOR México</a:t>
            </a:r>
            <a:endParaRPr lang="en-US" sz="2600" dirty="0"/>
          </a:p>
        </p:txBody>
      </p:sp>
      <p:sp>
        <p:nvSpPr>
          <p:cNvPr id="9" name="Text 6"/>
          <p:cNvSpPr/>
          <p:nvPr/>
        </p:nvSpPr>
        <p:spPr>
          <a:xfrm>
            <a:off x="822960" y="6263640"/>
            <a:ext cx="7315200" cy="274320"/>
          </a:xfrm>
          <a:prstGeom prst="rect">
            <a:avLst/>
          </a:prstGeom>
          <a:noFill/>
          <a:ln/>
        </p:spPr>
        <p:txBody>
          <a:bodyPr wrap="square" lIns="0" tIns="0" rIns="0" bIns="0" rtlCol="0" anchor="ctr"/>
          <a:lstStyle/>
          <a:p>
            <a:pPr indent="0" marL="0">
              <a:buNone/>
            </a:pPr>
            <a:r>
              <a:rPr lang="en-US" sz="1200" dirty="0">
                <a:solidFill>
                  <a:srgbClr val="8A97AC"/>
                </a:solidFill>
                <a:latin typeface="Poppins" pitchFamily="34" charset="0"/>
                <a:ea typeface="Poppins" pitchFamily="34" charset="-122"/>
                <a:cs typeface="Poppins" pitchFamily="34" charset="-120"/>
              </a:rPr>
              <a:t>Septiembre 2026  ·  Documento de referencia interna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lIns="0" tIns="0" rIns="0" bIns="0" rtlCol="0" anchor="ctr"/>
          <a:lstStyle/>
          <a:p>
            <a:pPr indent="0" marL="0">
              <a:buNone/>
            </a:pPr>
            <a:r>
              <a:rPr lang="en-US" sz="1250" b="1" spc="200" kern="0" dirty="0">
                <a:solidFill>
                  <a:srgbClr val="33B4DD"/>
                </a:solidFill>
                <a:latin typeface="Poppins" pitchFamily="34" charset="0"/>
                <a:ea typeface="Poppins" pitchFamily="34" charset="-122"/>
                <a:cs typeface="Poppins" pitchFamily="34" charset="-120"/>
              </a:rPr>
              <a:t>NUESTRA OFERTA</a:t>
            </a:r>
            <a:endParaRPr lang="en-US" sz="1250" dirty="0"/>
          </a:p>
        </p:txBody>
      </p:sp>
      <p:sp>
        <p:nvSpPr>
          <p:cNvPr id="3" name="Text 1"/>
          <p:cNvSpPr/>
          <p:nvPr/>
        </p:nvSpPr>
        <p:spPr>
          <a:xfrm>
            <a:off x="640080" y="749808"/>
            <a:ext cx="10881360" cy="640080"/>
          </a:xfrm>
          <a:prstGeom prst="rect">
            <a:avLst/>
          </a:prstGeom>
          <a:noFill/>
          <a:ln/>
        </p:spPr>
        <p:txBody>
          <a:bodyPr wrap="square" lIns="0" tIns="0" rIns="0" bIns="0" rtlCol="0" anchor="ctr"/>
          <a:lstStyle/>
          <a:p>
            <a:pPr indent="0" marL="0">
              <a:buNone/>
            </a:pPr>
            <a:r>
              <a:rPr lang="en-US" sz="2800" b="1" dirty="0">
                <a:solidFill>
                  <a:srgbClr val="0A1226"/>
                </a:solidFill>
                <a:latin typeface="Poppins" pitchFamily="34" charset="0"/>
                <a:ea typeface="Poppins" pitchFamily="34" charset="-122"/>
                <a:cs typeface="Poppins" pitchFamily="34" charset="-120"/>
              </a:rPr>
              <a:t>Servicio Time &amp; Material SAP</a:t>
            </a:r>
            <a:endParaRPr lang="en-US" sz="2800" dirty="0"/>
          </a:p>
        </p:txBody>
      </p:sp>
      <p:pic>
        <p:nvPicPr>
          <p:cNvPr id="4" name="Image 0" descr="/home/claude/deck/assets/logo_light.png">    </p:cNvPr>
          <p:cNvPicPr>
            <a:picLocks noChangeAspect="1"/>
          </p:cNvPicPr>
          <p:nvPr/>
        </p:nvPicPr>
        <p:blipFill>
          <a:blip r:embed="rId2"/>
          <a:stretch>
            <a:fillRect/>
          </a:stretch>
        </p:blipFill>
        <p:spPr>
          <a:xfrm>
            <a:off x="10058400" y="502920"/>
            <a:ext cx="1417320" cy="577877"/>
          </a:xfrm>
          <a:prstGeom prst="rect">
            <a:avLst/>
          </a:prstGeom>
        </p:spPr>
      </p:pic>
      <p:sp>
        <p:nvSpPr>
          <p:cNvPr id="5" name="Text 2"/>
          <p:cNvSpPr/>
          <p:nvPr/>
        </p:nvSpPr>
        <p:spPr>
          <a:xfrm>
            <a:off x="11368735" y="6400800"/>
            <a:ext cx="457200" cy="274320"/>
          </a:xfrm>
          <a:prstGeom prst="rect">
            <a:avLst/>
          </a:prstGeom>
          <a:noFill/>
          <a:ln/>
        </p:spPr>
        <p:txBody>
          <a:bodyPr wrap="square" rtlCol="0" anchor="ctr"/>
          <a:lstStyle/>
          <a:p>
            <a:pPr algn="r" indent="0" marL="0">
              <a:buNone/>
            </a:pPr>
            <a:r>
              <a:rPr lang="en-US" sz="1000" dirty="0">
                <a:solidFill>
                  <a:srgbClr val="8A97AC"/>
                </a:solidFill>
                <a:latin typeface="Poppins" pitchFamily="34" charset="0"/>
                <a:ea typeface="Poppins" pitchFamily="34" charset="-122"/>
                <a:cs typeface="Poppins" pitchFamily="34" charset="-120"/>
              </a:rPr>
              <a:t>02</a:t>
            </a:r>
            <a:endParaRPr lang="en-US" sz="1000" dirty="0"/>
          </a:p>
        </p:txBody>
      </p:sp>
      <p:sp>
        <p:nvSpPr>
          <p:cNvPr id="6" name="Shape 3"/>
          <p:cNvSpPr/>
          <p:nvPr/>
        </p:nvSpPr>
        <p:spPr>
          <a:xfrm>
            <a:off x="640080" y="1600200"/>
            <a:ext cx="566928" cy="566928"/>
          </a:xfrm>
          <a:prstGeom prst="roundRect">
            <a:avLst>
              <a:gd name="adj" fmla="val 16129"/>
            </a:avLst>
          </a:prstGeom>
          <a:solidFill>
            <a:srgbClr val="0A1226"/>
          </a:solidFill>
          <a:ln/>
        </p:spPr>
      </p:sp>
      <p:pic>
        <p:nvPicPr>
          <p:cNvPr id="7" name="Image 1" descr="preencoded.png">    </p:cNvPr>
          <p:cNvPicPr>
            <a:picLocks noChangeAspect="1"/>
          </p:cNvPicPr>
          <p:nvPr/>
        </p:nvPicPr>
        <p:blipFill>
          <a:blip r:embed="rId3"/>
          <a:stretch>
            <a:fillRect/>
          </a:stretch>
        </p:blipFill>
        <p:spPr>
          <a:xfrm>
            <a:off x="770473" y="1730593"/>
            <a:ext cx="306141" cy="306141"/>
          </a:xfrm>
          <a:prstGeom prst="rect">
            <a:avLst/>
          </a:prstGeom>
        </p:spPr>
      </p:pic>
      <p:sp>
        <p:nvSpPr>
          <p:cNvPr id="8" name="Text 4"/>
          <p:cNvSpPr/>
          <p:nvPr/>
        </p:nvSpPr>
        <p:spPr>
          <a:xfrm>
            <a:off x="1417320" y="1572768"/>
            <a:ext cx="9418320" cy="2194560"/>
          </a:xfrm>
          <a:prstGeom prst="rect">
            <a:avLst/>
          </a:prstGeom>
          <a:noFill/>
          <a:ln/>
        </p:spPr>
        <p:txBody>
          <a:bodyPr wrap="square" lIns="0" tIns="0" rIns="0" bIns="0" rtlCol="0" anchor="ctr"/>
          <a:lstStyle/>
          <a:p>
            <a:pPr indent="0" marL="0">
              <a:lnSpc>
                <a:spcPct val="125000"/>
              </a:lnSpc>
              <a:buNone/>
            </a:pPr>
            <a:r>
              <a:rPr lang="en-US" sz="1450" dirty="0">
                <a:solidFill>
                  <a:srgbClr val="16223A"/>
                </a:solidFill>
                <a:latin typeface="Poppins" pitchFamily="34" charset="0"/>
                <a:ea typeface="Poppins" pitchFamily="34" charset="-122"/>
                <a:cs typeface="Poppins" pitchFamily="34" charset="-120"/>
              </a:rPr>
              <a:t>Dentro de los servicios que SEIDOR México ofrece, contamos con consultoría SAP para perfiles back office bajo modalidad Time &amp; Material, que permite disponer de consultores certificados por bloques de horas para sostener la continuidad operativa, atender requerimientos y soporte funcional o técnico bajo demanda, y avanzar en mejoras — sin incorporar personal ni levantar un proyecto. SEIDOR aporta el perfil y la disponibilidad acordados; el cliente define, prioriza y gestiona las actividades, siendo responsable del uso que se dé a las horas contratadas.</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lIns="0" tIns="0" rIns="0" bIns="0" rtlCol="0" anchor="ctr"/>
          <a:lstStyle/>
          <a:p>
            <a:pPr indent="0" marL="0">
              <a:buNone/>
            </a:pPr>
            <a:r>
              <a:rPr lang="en-US" sz="1250" b="1" spc="200" kern="0" dirty="0">
                <a:solidFill>
                  <a:srgbClr val="33B4DD"/>
                </a:solidFill>
                <a:latin typeface="Poppins" pitchFamily="34" charset="0"/>
                <a:ea typeface="Poppins" pitchFamily="34" charset="-122"/>
                <a:cs typeface="Poppins" pitchFamily="34" charset="-120"/>
              </a:rPr>
              <a:t>POSICIONAMIENTO</a:t>
            </a:r>
            <a:endParaRPr lang="en-US" sz="1250" dirty="0"/>
          </a:p>
        </p:txBody>
      </p:sp>
      <p:sp>
        <p:nvSpPr>
          <p:cNvPr id="3" name="Text 1"/>
          <p:cNvSpPr/>
          <p:nvPr/>
        </p:nvSpPr>
        <p:spPr>
          <a:xfrm>
            <a:off x="640080" y="749808"/>
            <a:ext cx="10881360" cy="640080"/>
          </a:xfrm>
          <a:prstGeom prst="rect">
            <a:avLst/>
          </a:prstGeom>
          <a:noFill/>
          <a:ln/>
        </p:spPr>
        <p:txBody>
          <a:bodyPr wrap="square" lIns="0" tIns="0" rIns="0" bIns="0" rtlCol="0" anchor="ctr"/>
          <a:lstStyle/>
          <a:p>
            <a:pPr indent="0" marL="0">
              <a:buNone/>
            </a:pPr>
            <a:r>
              <a:rPr lang="en-US" sz="2800" b="1" dirty="0">
                <a:solidFill>
                  <a:srgbClr val="0A1226"/>
                </a:solidFill>
                <a:latin typeface="Poppins" pitchFamily="34" charset="0"/>
                <a:ea typeface="Poppins" pitchFamily="34" charset="-122"/>
                <a:cs typeface="Poppins" pitchFamily="34" charset="-120"/>
              </a:rPr>
              <a:t>¿Para quién es este servicio?</a:t>
            </a:r>
            <a:endParaRPr lang="en-US" sz="2800" dirty="0"/>
          </a:p>
        </p:txBody>
      </p:sp>
      <p:pic>
        <p:nvPicPr>
          <p:cNvPr id="4" name="Image 0" descr="/home/claude/deck/assets/logo_light.png">    </p:cNvPr>
          <p:cNvPicPr>
            <a:picLocks noChangeAspect="1"/>
          </p:cNvPicPr>
          <p:nvPr/>
        </p:nvPicPr>
        <p:blipFill>
          <a:blip r:embed="rId2"/>
          <a:stretch>
            <a:fillRect/>
          </a:stretch>
        </p:blipFill>
        <p:spPr>
          <a:xfrm>
            <a:off x="10058400" y="502920"/>
            <a:ext cx="1417320" cy="577877"/>
          </a:xfrm>
          <a:prstGeom prst="rect">
            <a:avLst/>
          </a:prstGeom>
        </p:spPr>
      </p:pic>
      <p:sp>
        <p:nvSpPr>
          <p:cNvPr id="5" name="Text 2"/>
          <p:cNvSpPr/>
          <p:nvPr/>
        </p:nvSpPr>
        <p:spPr>
          <a:xfrm>
            <a:off x="11368735" y="6400800"/>
            <a:ext cx="457200" cy="274320"/>
          </a:xfrm>
          <a:prstGeom prst="rect">
            <a:avLst/>
          </a:prstGeom>
          <a:noFill/>
          <a:ln/>
        </p:spPr>
        <p:txBody>
          <a:bodyPr wrap="square" rtlCol="0" anchor="ctr"/>
          <a:lstStyle/>
          <a:p>
            <a:pPr algn="r" indent="0" marL="0">
              <a:buNone/>
            </a:pPr>
            <a:r>
              <a:rPr lang="en-US" sz="1000" dirty="0">
                <a:solidFill>
                  <a:srgbClr val="8A97AC"/>
                </a:solidFill>
                <a:latin typeface="Poppins" pitchFamily="34" charset="0"/>
                <a:ea typeface="Poppins" pitchFamily="34" charset="-122"/>
                <a:cs typeface="Poppins" pitchFamily="34" charset="-120"/>
              </a:rPr>
              <a:t>03</a:t>
            </a:r>
            <a:endParaRPr lang="en-US" sz="1000" dirty="0"/>
          </a:p>
        </p:txBody>
      </p:sp>
      <p:sp>
        <p:nvSpPr>
          <p:cNvPr id="6" name="Shape 3"/>
          <p:cNvSpPr/>
          <p:nvPr/>
        </p:nvSpPr>
        <p:spPr>
          <a:xfrm>
            <a:off x="640080" y="1737360"/>
            <a:ext cx="5303520" cy="3566160"/>
          </a:xfrm>
          <a:prstGeom prst="roundRect">
            <a:avLst>
              <a:gd name="adj" fmla="val 2051"/>
            </a:avLst>
          </a:prstGeom>
          <a:solidFill>
            <a:srgbClr val="FFFFFF"/>
          </a:solidFill>
          <a:ln w="12700">
            <a:solidFill>
              <a:srgbClr val="D8E2EE"/>
            </a:solidFill>
            <a:prstDash val="solid"/>
          </a:ln>
          <a:effectLst>
            <a:outerShdw sx="100000" sy="100000" kx="0" ky="0" algn="bl" rotWithShape="0" blurRad="114300" dist="38100" dir="5400000">
              <a:srgbClr val="9FB3CC">
                <a:alpha val="18000"/>
              </a:srgbClr>
            </a:outerShdw>
          </a:effectLst>
        </p:spPr>
      </p:sp>
      <p:sp>
        <p:nvSpPr>
          <p:cNvPr id="7" name="Shape 4"/>
          <p:cNvSpPr/>
          <p:nvPr/>
        </p:nvSpPr>
        <p:spPr>
          <a:xfrm>
            <a:off x="914400" y="2011680"/>
            <a:ext cx="585216" cy="585216"/>
          </a:xfrm>
          <a:prstGeom prst="roundRect">
            <a:avLst>
              <a:gd name="adj" fmla="val 15625"/>
            </a:avLst>
          </a:prstGeom>
          <a:solidFill>
            <a:srgbClr val="0A1226"/>
          </a:solidFill>
          <a:ln/>
        </p:spPr>
      </p:sp>
      <p:pic>
        <p:nvPicPr>
          <p:cNvPr id="8" name="Image 1" descr="preencoded.png">    </p:cNvPr>
          <p:cNvPicPr>
            <a:picLocks noChangeAspect="1"/>
          </p:cNvPicPr>
          <p:nvPr/>
        </p:nvPicPr>
        <p:blipFill>
          <a:blip r:embed="rId3"/>
          <a:stretch>
            <a:fillRect/>
          </a:stretch>
        </p:blipFill>
        <p:spPr>
          <a:xfrm>
            <a:off x="1049000" y="2146280"/>
            <a:ext cx="316017" cy="316017"/>
          </a:xfrm>
          <a:prstGeom prst="rect">
            <a:avLst/>
          </a:prstGeom>
        </p:spPr>
      </p:pic>
      <p:sp>
        <p:nvSpPr>
          <p:cNvPr id="9" name="Text 5"/>
          <p:cNvSpPr/>
          <p:nvPr/>
        </p:nvSpPr>
        <p:spPr>
          <a:xfrm>
            <a:off x="914400" y="2743200"/>
            <a:ext cx="4754880" cy="502920"/>
          </a:xfrm>
          <a:prstGeom prst="rect">
            <a:avLst/>
          </a:prstGeom>
          <a:noFill/>
          <a:ln/>
        </p:spPr>
        <p:txBody>
          <a:bodyPr wrap="square" lIns="0" tIns="0" rIns="0" bIns="0" rtlCol="0" anchor="ctr"/>
          <a:lstStyle/>
          <a:p>
            <a:pPr indent="0" marL="0">
              <a:buNone/>
            </a:pPr>
            <a:r>
              <a:rPr lang="en-US" sz="1550" b="1" dirty="0">
                <a:solidFill>
                  <a:srgbClr val="0A1226"/>
                </a:solidFill>
                <a:latin typeface="Poppins" pitchFamily="34" charset="0"/>
                <a:ea typeface="Poppins" pitchFamily="34" charset="-122"/>
                <a:cs typeface="Poppins" pitchFamily="34" charset="-120"/>
              </a:rPr>
              <a:t>Organizaciones a las que aplica</a:t>
            </a:r>
            <a:endParaRPr lang="en-US" sz="1550" dirty="0"/>
          </a:p>
        </p:txBody>
      </p:sp>
      <p:sp>
        <p:nvSpPr>
          <p:cNvPr id="10" name="Text 6"/>
          <p:cNvSpPr/>
          <p:nvPr/>
        </p:nvSpPr>
        <p:spPr>
          <a:xfrm>
            <a:off x="914400" y="3246120"/>
            <a:ext cx="4754880" cy="1920240"/>
          </a:xfrm>
          <a:prstGeom prst="rect">
            <a:avLst/>
          </a:prstGeom>
          <a:noFill/>
          <a:ln/>
        </p:spPr>
        <p:txBody>
          <a:bodyPr wrap="square" lIns="0" tIns="0" rIns="0" bIns="0" rtlCol="0" anchor="ctr"/>
          <a:lstStyle/>
          <a:p>
            <a:pPr indent="0" marL="0">
              <a:lnSpc>
                <a:spcPct val="120000"/>
              </a:lnSpc>
              <a:buNone/>
            </a:pPr>
            <a:r>
              <a:rPr lang="en-US" sz="1200" dirty="0">
                <a:solidFill>
                  <a:srgbClr val="5E6B82"/>
                </a:solidFill>
                <a:latin typeface="Poppins" pitchFamily="34" charset="0"/>
                <a:ea typeface="Poppins" pitchFamily="34" charset="-122"/>
                <a:cs typeface="Poppins" pitchFamily="34" charset="-120"/>
              </a:rPr>
              <a:t>Empresas con SAP productivo que necesitan capacidad de consultoría estable y flexible: equipos internos pequeños que requieren respaldo experto, operaciones con demanda variable de soporte funcional o técnico, y organizaciones que prefieren un modelo de horas contratadas en lugar de ampliar dotación.</a:t>
            </a:r>
            <a:endParaRPr lang="en-US" sz="1200" dirty="0"/>
          </a:p>
        </p:txBody>
      </p:sp>
      <p:sp>
        <p:nvSpPr>
          <p:cNvPr id="11" name="Shape 7"/>
          <p:cNvSpPr/>
          <p:nvPr/>
        </p:nvSpPr>
        <p:spPr>
          <a:xfrm>
            <a:off x="6245352" y="1737360"/>
            <a:ext cx="5303520" cy="3566160"/>
          </a:xfrm>
          <a:prstGeom prst="roundRect">
            <a:avLst>
              <a:gd name="adj" fmla="val 2051"/>
            </a:avLst>
          </a:prstGeom>
          <a:solidFill>
            <a:srgbClr val="FFFFFF"/>
          </a:solidFill>
          <a:ln w="12700">
            <a:solidFill>
              <a:srgbClr val="D8E2EE"/>
            </a:solidFill>
            <a:prstDash val="solid"/>
          </a:ln>
          <a:effectLst>
            <a:outerShdw sx="100000" sy="100000" kx="0" ky="0" algn="bl" rotWithShape="0" blurRad="114300" dist="38100" dir="5400000">
              <a:srgbClr val="9FB3CC">
                <a:alpha val="18000"/>
              </a:srgbClr>
            </a:outerShdw>
          </a:effectLst>
        </p:spPr>
      </p:sp>
      <p:sp>
        <p:nvSpPr>
          <p:cNvPr id="12" name="Shape 8"/>
          <p:cNvSpPr/>
          <p:nvPr/>
        </p:nvSpPr>
        <p:spPr>
          <a:xfrm>
            <a:off x="6519672" y="2011680"/>
            <a:ext cx="585216" cy="585216"/>
          </a:xfrm>
          <a:prstGeom prst="roundRect">
            <a:avLst>
              <a:gd name="adj" fmla="val 15625"/>
            </a:avLst>
          </a:prstGeom>
          <a:solidFill>
            <a:srgbClr val="1E5BB8"/>
          </a:solidFill>
          <a:ln/>
        </p:spPr>
      </p:sp>
      <p:pic>
        <p:nvPicPr>
          <p:cNvPr id="13" name="Image 2" descr="preencoded.png">    </p:cNvPr>
          <p:cNvPicPr>
            <a:picLocks noChangeAspect="1"/>
          </p:cNvPicPr>
          <p:nvPr/>
        </p:nvPicPr>
        <p:blipFill>
          <a:blip r:embed="rId4"/>
          <a:stretch>
            <a:fillRect/>
          </a:stretch>
        </p:blipFill>
        <p:spPr>
          <a:xfrm>
            <a:off x="6654272" y="2146280"/>
            <a:ext cx="316017" cy="316017"/>
          </a:xfrm>
          <a:prstGeom prst="rect">
            <a:avLst/>
          </a:prstGeom>
        </p:spPr>
      </p:pic>
      <p:sp>
        <p:nvSpPr>
          <p:cNvPr id="14" name="Text 9"/>
          <p:cNvSpPr/>
          <p:nvPr/>
        </p:nvSpPr>
        <p:spPr>
          <a:xfrm>
            <a:off x="6519672" y="2743200"/>
            <a:ext cx="4754880" cy="502920"/>
          </a:xfrm>
          <a:prstGeom prst="rect">
            <a:avLst/>
          </a:prstGeom>
          <a:noFill/>
          <a:ln/>
        </p:spPr>
        <p:txBody>
          <a:bodyPr wrap="square" lIns="0" tIns="0" rIns="0" bIns="0" rtlCol="0" anchor="ctr"/>
          <a:lstStyle/>
          <a:p>
            <a:pPr indent="0" marL="0">
              <a:buNone/>
            </a:pPr>
            <a:r>
              <a:rPr lang="en-US" sz="1550" b="1" dirty="0">
                <a:solidFill>
                  <a:srgbClr val="0A1226"/>
                </a:solidFill>
                <a:latin typeface="Poppins" pitchFamily="34" charset="0"/>
                <a:ea typeface="Poppins" pitchFamily="34" charset="-122"/>
                <a:cs typeface="Poppins" pitchFamily="34" charset="-120"/>
              </a:rPr>
              <a:t>Situaciones típicas de uso</a:t>
            </a:r>
            <a:endParaRPr lang="en-US" sz="1550" dirty="0"/>
          </a:p>
        </p:txBody>
      </p:sp>
      <p:sp>
        <p:nvSpPr>
          <p:cNvPr id="15" name="Text 10"/>
          <p:cNvSpPr/>
          <p:nvPr/>
        </p:nvSpPr>
        <p:spPr>
          <a:xfrm>
            <a:off x="6519672" y="3246120"/>
            <a:ext cx="4754880" cy="1920240"/>
          </a:xfrm>
          <a:prstGeom prst="rect">
            <a:avLst/>
          </a:prstGeom>
          <a:noFill/>
          <a:ln/>
        </p:spPr>
        <p:txBody>
          <a:bodyPr wrap="square" lIns="0" tIns="0" rIns="0" bIns="0" rtlCol="0" anchor="ctr"/>
          <a:lstStyle/>
          <a:p>
            <a:pPr indent="0" marL="0">
              <a:lnSpc>
                <a:spcPct val="120000"/>
              </a:lnSpc>
              <a:buNone/>
            </a:pPr>
            <a:r>
              <a:rPr lang="en-US" sz="1200" dirty="0">
                <a:solidFill>
                  <a:srgbClr val="5E6B82"/>
                </a:solidFill>
                <a:latin typeface="Poppins" pitchFamily="34" charset="0"/>
                <a:ea typeface="Poppins" pitchFamily="34" charset="-122"/>
                <a:cs typeface="Poppins" pitchFamily="34" charset="-120"/>
              </a:rPr>
              <a:t>Atención de incidencias y requerimientos del día a día, mejoras y evolutivos de procesos ya implementados, apoyo en cierres y periodos de alta carga, capacitación de usuarios y refuerzo temporal del equipo SAP mientras se cubre una vacante.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lIns="0" tIns="0" rIns="0" bIns="0" rtlCol="0" anchor="ctr"/>
          <a:lstStyle/>
          <a:p>
            <a:pPr indent="0" marL="0">
              <a:buNone/>
            </a:pPr>
            <a:r>
              <a:rPr lang="en-US" sz="1250" b="1" spc="200" kern="0" dirty="0">
                <a:solidFill>
                  <a:srgbClr val="33B4DD"/>
                </a:solidFill>
                <a:latin typeface="Poppins" pitchFamily="34" charset="0"/>
                <a:ea typeface="Poppins" pitchFamily="34" charset="-122"/>
                <a:cs typeface="Poppins" pitchFamily="34" charset="-120"/>
              </a:rPr>
              <a:t>ALCANCE</a:t>
            </a:r>
            <a:endParaRPr lang="en-US" sz="1250" dirty="0"/>
          </a:p>
        </p:txBody>
      </p:sp>
      <p:sp>
        <p:nvSpPr>
          <p:cNvPr id="3" name="Text 1"/>
          <p:cNvSpPr/>
          <p:nvPr/>
        </p:nvSpPr>
        <p:spPr>
          <a:xfrm>
            <a:off x="640080" y="749808"/>
            <a:ext cx="10881360" cy="640080"/>
          </a:xfrm>
          <a:prstGeom prst="rect">
            <a:avLst/>
          </a:prstGeom>
          <a:noFill/>
          <a:ln/>
        </p:spPr>
        <p:txBody>
          <a:bodyPr wrap="square" lIns="0" tIns="0" rIns="0" bIns="0" rtlCol="0" anchor="ctr"/>
          <a:lstStyle/>
          <a:p>
            <a:pPr indent="0" marL="0">
              <a:buNone/>
            </a:pPr>
            <a:r>
              <a:rPr lang="en-US" sz="2800" b="1" dirty="0">
                <a:solidFill>
                  <a:srgbClr val="0A1226"/>
                </a:solidFill>
                <a:latin typeface="Poppins" pitchFamily="34" charset="0"/>
                <a:ea typeface="Poppins" pitchFamily="34" charset="-122"/>
                <a:cs typeface="Poppins" pitchFamily="34" charset="-120"/>
              </a:rPr>
              <a:t>Alcance del Servicio</a:t>
            </a:r>
            <a:endParaRPr lang="en-US" sz="2800" dirty="0"/>
          </a:p>
        </p:txBody>
      </p:sp>
      <p:pic>
        <p:nvPicPr>
          <p:cNvPr id="4" name="Image 0" descr="/home/claude/deck/assets/logo_light.png">    </p:cNvPr>
          <p:cNvPicPr>
            <a:picLocks noChangeAspect="1"/>
          </p:cNvPicPr>
          <p:nvPr/>
        </p:nvPicPr>
        <p:blipFill>
          <a:blip r:embed="rId2"/>
          <a:stretch>
            <a:fillRect/>
          </a:stretch>
        </p:blipFill>
        <p:spPr>
          <a:xfrm>
            <a:off x="10058400" y="502920"/>
            <a:ext cx="1417320" cy="577877"/>
          </a:xfrm>
          <a:prstGeom prst="rect">
            <a:avLst/>
          </a:prstGeom>
        </p:spPr>
      </p:pic>
      <p:sp>
        <p:nvSpPr>
          <p:cNvPr id="5" name="Text 2"/>
          <p:cNvSpPr/>
          <p:nvPr/>
        </p:nvSpPr>
        <p:spPr>
          <a:xfrm>
            <a:off x="11368735" y="6400800"/>
            <a:ext cx="457200" cy="274320"/>
          </a:xfrm>
          <a:prstGeom prst="rect">
            <a:avLst/>
          </a:prstGeom>
          <a:noFill/>
          <a:ln/>
        </p:spPr>
        <p:txBody>
          <a:bodyPr wrap="square" rtlCol="0" anchor="ctr"/>
          <a:lstStyle/>
          <a:p>
            <a:pPr algn="r" indent="0" marL="0">
              <a:buNone/>
            </a:pPr>
            <a:r>
              <a:rPr lang="en-US" sz="1000" dirty="0">
                <a:solidFill>
                  <a:srgbClr val="8A97AC"/>
                </a:solidFill>
                <a:latin typeface="Poppins" pitchFamily="34" charset="0"/>
                <a:ea typeface="Poppins" pitchFamily="34" charset="-122"/>
                <a:cs typeface="Poppins" pitchFamily="34" charset="-120"/>
              </a:rPr>
              <a:t>04</a:t>
            </a:r>
            <a:endParaRPr lang="en-US" sz="1000" dirty="0"/>
          </a:p>
        </p:txBody>
      </p:sp>
      <p:sp>
        <p:nvSpPr>
          <p:cNvPr id="6" name="Shape 3"/>
          <p:cNvSpPr/>
          <p:nvPr/>
        </p:nvSpPr>
        <p:spPr>
          <a:xfrm>
            <a:off x="640080" y="1737360"/>
            <a:ext cx="3529584" cy="3749040"/>
          </a:xfrm>
          <a:prstGeom prst="roundRect">
            <a:avLst>
              <a:gd name="adj" fmla="val 2073"/>
            </a:avLst>
          </a:prstGeom>
          <a:solidFill>
            <a:srgbClr val="FFFFFF"/>
          </a:solidFill>
          <a:ln w="12700">
            <a:solidFill>
              <a:srgbClr val="D8E2EE"/>
            </a:solidFill>
            <a:prstDash val="solid"/>
          </a:ln>
          <a:effectLst>
            <a:outerShdw sx="100000" sy="100000" kx="0" ky="0" algn="bl" rotWithShape="0" blurRad="114300" dist="38100" dir="5400000">
              <a:srgbClr val="9FB3CC">
                <a:alpha val="18000"/>
              </a:srgbClr>
            </a:outerShdw>
          </a:effectLst>
        </p:spPr>
      </p:sp>
      <p:sp>
        <p:nvSpPr>
          <p:cNvPr id="7" name="Shape 4"/>
          <p:cNvSpPr/>
          <p:nvPr/>
        </p:nvSpPr>
        <p:spPr>
          <a:xfrm>
            <a:off x="896112" y="1993392"/>
            <a:ext cx="548640" cy="548640"/>
          </a:xfrm>
          <a:prstGeom prst="roundRect">
            <a:avLst>
              <a:gd name="adj" fmla="val 16667"/>
            </a:avLst>
          </a:prstGeom>
          <a:solidFill>
            <a:srgbClr val="0A1226"/>
          </a:solidFill>
          <a:ln/>
        </p:spPr>
      </p:sp>
      <p:pic>
        <p:nvPicPr>
          <p:cNvPr id="8" name="Image 1" descr="preencoded.png">    </p:cNvPr>
          <p:cNvPicPr>
            <a:picLocks noChangeAspect="1"/>
          </p:cNvPicPr>
          <p:nvPr/>
        </p:nvPicPr>
        <p:blipFill>
          <a:blip r:embed="rId3"/>
          <a:stretch>
            <a:fillRect/>
          </a:stretch>
        </p:blipFill>
        <p:spPr>
          <a:xfrm>
            <a:off x="1022299" y="2119579"/>
            <a:ext cx="296266" cy="296266"/>
          </a:xfrm>
          <a:prstGeom prst="rect">
            <a:avLst/>
          </a:prstGeom>
        </p:spPr>
      </p:pic>
      <p:sp>
        <p:nvSpPr>
          <p:cNvPr id="9" name="Text 5"/>
          <p:cNvSpPr/>
          <p:nvPr/>
        </p:nvSpPr>
        <p:spPr>
          <a:xfrm>
            <a:off x="896112" y="2697480"/>
            <a:ext cx="3026664" cy="594360"/>
          </a:xfrm>
          <a:prstGeom prst="rect">
            <a:avLst/>
          </a:prstGeom>
          <a:noFill/>
          <a:ln/>
        </p:spPr>
        <p:txBody>
          <a:bodyPr wrap="square" lIns="0" tIns="0" rIns="0" bIns="0" rtlCol="0" anchor="ctr"/>
          <a:lstStyle/>
          <a:p>
            <a:pPr indent="0" marL="0">
              <a:lnSpc>
                <a:spcPct val="105000"/>
              </a:lnSpc>
              <a:buNone/>
            </a:pPr>
            <a:r>
              <a:rPr lang="en-US" sz="1350" b="1" dirty="0">
                <a:solidFill>
                  <a:srgbClr val="0A1226"/>
                </a:solidFill>
                <a:latin typeface="Poppins" pitchFamily="34" charset="0"/>
                <a:ea typeface="Poppins" pitchFamily="34" charset="-122"/>
                <a:cs typeface="Poppins" pitchFamily="34" charset="-120"/>
              </a:rPr>
              <a:t>Descripción del servicio</a:t>
            </a:r>
            <a:endParaRPr lang="en-US" sz="1350" dirty="0"/>
          </a:p>
        </p:txBody>
      </p:sp>
      <p:sp>
        <p:nvSpPr>
          <p:cNvPr id="10" name="Text 6"/>
          <p:cNvSpPr/>
          <p:nvPr/>
        </p:nvSpPr>
        <p:spPr>
          <a:xfrm>
            <a:off x="896112" y="3337560"/>
            <a:ext cx="3026664" cy="2011680"/>
          </a:xfrm>
          <a:prstGeom prst="rect">
            <a:avLst/>
          </a:prstGeom>
          <a:noFill/>
          <a:ln/>
        </p:spPr>
        <p:txBody>
          <a:bodyPr wrap="square" lIns="0" tIns="0" rIns="0" bIns="0" rtlCol="0" anchor="ctr"/>
          <a:lstStyle/>
          <a:p>
            <a:pPr indent="0" marL="0">
              <a:lnSpc>
                <a:spcPct val="115000"/>
              </a:lnSpc>
              <a:buNone/>
            </a:pPr>
            <a:r>
              <a:rPr lang="en-US" sz="1100" dirty="0">
                <a:solidFill>
                  <a:srgbClr val="5E6B82"/>
                </a:solidFill>
                <a:latin typeface="Poppins" pitchFamily="34" charset="0"/>
                <a:ea typeface="Poppins" pitchFamily="34" charset="-122"/>
                <a:cs typeface="Poppins" pitchFamily="34" charset="-120"/>
              </a:rPr>
              <a:t>Modelo paquetizado de provisión de capacidad SAP: se contrata un bloque mensual de horas por perfil y el cliente decide en qué se utilizan. No es un proyecto con alcance cerrado ni entregables comprometidos; se adapta día a día a la operación.</a:t>
            </a:r>
            <a:endParaRPr lang="en-US" sz="1100" dirty="0"/>
          </a:p>
        </p:txBody>
      </p:sp>
      <p:sp>
        <p:nvSpPr>
          <p:cNvPr id="11" name="Shape 7"/>
          <p:cNvSpPr/>
          <p:nvPr/>
        </p:nvSpPr>
        <p:spPr>
          <a:xfrm>
            <a:off x="4315968" y="1737360"/>
            <a:ext cx="3529584" cy="3749040"/>
          </a:xfrm>
          <a:prstGeom prst="roundRect">
            <a:avLst>
              <a:gd name="adj" fmla="val 2073"/>
            </a:avLst>
          </a:prstGeom>
          <a:solidFill>
            <a:srgbClr val="FFFFFF"/>
          </a:solidFill>
          <a:ln w="12700">
            <a:solidFill>
              <a:srgbClr val="D8E2EE"/>
            </a:solidFill>
            <a:prstDash val="solid"/>
          </a:ln>
          <a:effectLst>
            <a:outerShdw sx="100000" sy="100000" kx="0" ky="0" algn="bl" rotWithShape="0" blurRad="114300" dist="38100" dir="5400000">
              <a:srgbClr val="9FB3CC">
                <a:alpha val="18000"/>
              </a:srgbClr>
            </a:outerShdw>
          </a:effectLst>
        </p:spPr>
      </p:sp>
      <p:sp>
        <p:nvSpPr>
          <p:cNvPr id="12" name="Shape 8"/>
          <p:cNvSpPr/>
          <p:nvPr/>
        </p:nvSpPr>
        <p:spPr>
          <a:xfrm>
            <a:off x="4572000" y="1993392"/>
            <a:ext cx="548640" cy="548640"/>
          </a:xfrm>
          <a:prstGeom prst="roundRect">
            <a:avLst>
              <a:gd name="adj" fmla="val 16667"/>
            </a:avLst>
          </a:prstGeom>
          <a:solidFill>
            <a:srgbClr val="1E5BB8"/>
          </a:solidFill>
          <a:ln/>
        </p:spPr>
      </p:sp>
      <p:pic>
        <p:nvPicPr>
          <p:cNvPr id="13" name="Image 2" descr="preencoded.png">    </p:cNvPr>
          <p:cNvPicPr>
            <a:picLocks noChangeAspect="1"/>
          </p:cNvPicPr>
          <p:nvPr/>
        </p:nvPicPr>
        <p:blipFill>
          <a:blip r:embed="rId4"/>
          <a:stretch>
            <a:fillRect/>
          </a:stretch>
        </p:blipFill>
        <p:spPr>
          <a:xfrm>
            <a:off x="4698187" y="2119579"/>
            <a:ext cx="296266" cy="296266"/>
          </a:xfrm>
          <a:prstGeom prst="rect">
            <a:avLst/>
          </a:prstGeom>
        </p:spPr>
      </p:pic>
      <p:sp>
        <p:nvSpPr>
          <p:cNvPr id="14" name="Text 9"/>
          <p:cNvSpPr/>
          <p:nvPr/>
        </p:nvSpPr>
        <p:spPr>
          <a:xfrm>
            <a:off x="4572000" y="2697480"/>
            <a:ext cx="3026664" cy="594360"/>
          </a:xfrm>
          <a:prstGeom prst="rect">
            <a:avLst/>
          </a:prstGeom>
          <a:noFill/>
          <a:ln/>
        </p:spPr>
        <p:txBody>
          <a:bodyPr wrap="square" lIns="0" tIns="0" rIns="0" bIns="0" rtlCol="0" anchor="ctr"/>
          <a:lstStyle/>
          <a:p>
            <a:pPr indent="0" marL="0">
              <a:lnSpc>
                <a:spcPct val="105000"/>
              </a:lnSpc>
              <a:buNone/>
            </a:pPr>
            <a:r>
              <a:rPr lang="en-US" sz="1350" b="1" dirty="0">
                <a:solidFill>
                  <a:srgbClr val="0A1226"/>
                </a:solidFill>
                <a:latin typeface="Poppins" pitchFamily="34" charset="0"/>
                <a:ea typeface="Poppins" pitchFamily="34" charset="-122"/>
                <a:cs typeface="Poppins" pitchFamily="34" charset="-120"/>
              </a:rPr>
              <a:t>Asignación Tiempo &amp; Material</a:t>
            </a:r>
            <a:endParaRPr lang="en-US" sz="1350" dirty="0"/>
          </a:p>
        </p:txBody>
      </p:sp>
      <p:sp>
        <p:nvSpPr>
          <p:cNvPr id="15" name="Text 10"/>
          <p:cNvSpPr/>
          <p:nvPr/>
        </p:nvSpPr>
        <p:spPr>
          <a:xfrm>
            <a:off x="4572000" y="3337560"/>
            <a:ext cx="3026664" cy="2011680"/>
          </a:xfrm>
          <a:prstGeom prst="rect">
            <a:avLst/>
          </a:prstGeom>
          <a:noFill/>
          <a:ln/>
        </p:spPr>
        <p:txBody>
          <a:bodyPr wrap="square" lIns="0" tIns="0" rIns="0" bIns="0" rtlCol="0" anchor="ctr"/>
          <a:lstStyle/>
          <a:p>
            <a:pPr indent="0" marL="0">
              <a:lnSpc>
                <a:spcPct val="115000"/>
              </a:lnSpc>
              <a:buNone/>
            </a:pPr>
            <a:r>
              <a:rPr lang="en-US" sz="1100" dirty="0">
                <a:solidFill>
                  <a:srgbClr val="5E6B82"/>
                </a:solidFill>
                <a:latin typeface="Poppins" pitchFamily="34" charset="0"/>
                <a:ea typeface="Poppins" pitchFamily="34" charset="-122"/>
                <a:cs typeface="Poppins" pitchFamily="34" charset="-120"/>
              </a:rPr>
              <a:t>Cada perfil contratado tiene una dedicación mínima de 80 HH mensuales, bajo un modelo de consultoría remota. Las horas se facturan según la propuesta comercial, independientemente de las tareas en que se empleen.</a:t>
            </a:r>
            <a:endParaRPr lang="en-US" sz="1100" dirty="0"/>
          </a:p>
        </p:txBody>
      </p:sp>
      <p:sp>
        <p:nvSpPr>
          <p:cNvPr id="16" name="Shape 11"/>
          <p:cNvSpPr/>
          <p:nvPr/>
        </p:nvSpPr>
        <p:spPr>
          <a:xfrm>
            <a:off x="7991856" y="1737360"/>
            <a:ext cx="3529584" cy="3749040"/>
          </a:xfrm>
          <a:prstGeom prst="roundRect">
            <a:avLst>
              <a:gd name="adj" fmla="val 2073"/>
            </a:avLst>
          </a:prstGeom>
          <a:solidFill>
            <a:srgbClr val="FFFFFF"/>
          </a:solidFill>
          <a:ln w="12700">
            <a:solidFill>
              <a:srgbClr val="D8E2EE"/>
            </a:solidFill>
            <a:prstDash val="solid"/>
          </a:ln>
          <a:effectLst>
            <a:outerShdw sx="100000" sy="100000" kx="0" ky="0" algn="bl" rotWithShape="0" blurRad="114300" dist="38100" dir="5400000">
              <a:srgbClr val="9FB3CC">
                <a:alpha val="18000"/>
              </a:srgbClr>
            </a:outerShdw>
          </a:effectLst>
        </p:spPr>
      </p:sp>
      <p:sp>
        <p:nvSpPr>
          <p:cNvPr id="17" name="Shape 12"/>
          <p:cNvSpPr/>
          <p:nvPr/>
        </p:nvSpPr>
        <p:spPr>
          <a:xfrm>
            <a:off x="8247888" y="1993392"/>
            <a:ext cx="548640" cy="548640"/>
          </a:xfrm>
          <a:prstGeom prst="roundRect">
            <a:avLst>
              <a:gd name="adj" fmla="val 16667"/>
            </a:avLst>
          </a:prstGeom>
          <a:solidFill>
            <a:srgbClr val="0A1226"/>
          </a:solidFill>
          <a:ln/>
        </p:spPr>
      </p:sp>
      <p:pic>
        <p:nvPicPr>
          <p:cNvPr id="18" name="Image 3" descr="preencoded.png">    </p:cNvPr>
          <p:cNvPicPr>
            <a:picLocks noChangeAspect="1"/>
          </p:cNvPicPr>
          <p:nvPr/>
        </p:nvPicPr>
        <p:blipFill>
          <a:blip r:embed="rId5"/>
          <a:stretch>
            <a:fillRect/>
          </a:stretch>
        </p:blipFill>
        <p:spPr>
          <a:xfrm>
            <a:off x="8374075" y="2119579"/>
            <a:ext cx="296266" cy="296266"/>
          </a:xfrm>
          <a:prstGeom prst="rect">
            <a:avLst/>
          </a:prstGeom>
        </p:spPr>
      </p:pic>
      <p:sp>
        <p:nvSpPr>
          <p:cNvPr id="19" name="Text 13"/>
          <p:cNvSpPr/>
          <p:nvPr/>
        </p:nvSpPr>
        <p:spPr>
          <a:xfrm>
            <a:off x="8247888" y="2697480"/>
            <a:ext cx="3026664" cy="594360"/>
          </a:xfrm>
          <a:prstGeom prst="rect">
            <a:avLst/>
          </a:prstGeom>
          <a:noFill/>
          <a:ln/>
        </p:spPr>
        <p:txBody>
          <a:bodyPr wrap="square" lIns="0" tIns="0" rIns="0" bIns="0" rtlCol="0" anchor="ctr"/>
          <a:lstStyle/>
          <a:p>
            <a:pPr indent="0" marL="0">
              <a:lnSpc>
                <a:spcPct val="105000"/>
              </a:lnSpc>
              <a:buNone/>
            </a:pPr>
            <a:r>
              <a:rPr lang="en-US" sz="1350" b="1" dirty="0">
                <a:solidFill>
                  <a:srgbClr val="0A1226"/>
                </a:solidFill>
                <a:latin typeface="Poppins" pitchFamily="34" charset="0"/>
                <a:ea typeface="Poppins" pitchFamily="34" charset="-122"/>
                <a:cs typeface="Poppins" pitchFamily="34" charset="-120"/>
              </a:rPr>
              <a:t>Beneficios</a:t>
            </a:r>
            <a:endParaRPr lang="en-US" sz="1350" dirty="0"/>
          </a:p>
        </p:txBody>
      </p:sp>
      <p:sp>
        <p:nvSpPr>
          <p:cNvPr id="20" name="Text 14"/>
          <p:cNvSpPr/>
          <p:nvPr/>
        </p:nvSpPr>
        <p:spPr>
          <a:xfrm>
            <a:off x="8247888" y="3337560"/>
            <a:ext cx="3026664" cy="2011680"/>
          </a:xfrm>
          <a:prstGeom prst="rect">
            <a:avLst/>
          </a:prstGeom>
          <a:noFill/>
          <a:ln/>
        </p:spPr>
        <p:txBody>
          <a:bodyPr wrap="square" lIns="0" tIns="0" rIns="0" bIns="0" rtlCol="0" anchor="ctr"/>
          <a:lstStyle/>
          <a:p>
            <a:pPr indent="0" marL="0">
              <a:lnSpc>
                <a:spcPct val="115000"/>
              </a:lnSpc>
              <a:buNone/>
            </a:pPr>
            <a:r>
              <a:rPr lang="en-US" sz="1100" dirty="0">
                <a:solidFill>
                  <a:srgbClr val="5E6B82"/>
                </a:solidFill>
                <a:latin typeface="Poppins" pitchFamily="34" charset="0"/>
                <a:ea typeface="Poppins" pitchFamily="34" charset="-122"/>
                <a:cs typeface="Poppins" pitchFamily="34" charset="-120"/>
              </a:rPr>
              <a:t>Acceso rápido a consultores SAP sin procesos de búsqueda ni contratación, con tarifas y condiciones preestablecidas y foco redefinible mes a mes sin renegociar alcance.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lIns="0" tIns="0" rIns="0" bIns="0" rtlCol="0" anchor="ctr"/>
          <a:lstStyle/>
          <a:p>
            <a:pPr indent="0" marL="0">
              <a:buNone/>
            </a:pPr>
            <a:r>
              <a:rPr lang="en-US" sz="1250" b="1" spc="200" kern="0" dirty="0">
                <a:solidFill>
                  <a:srgbClr val="33B4DD"/>
                </a:solidFill>
                <a:latin typeface="Poppins" pitchFamily="34" charset="0"/>
                <a:ea typeface="Poppins" pitchFamily="34" charset="-122"/>
                <a:cs typeface="Poppins" pitchFamily="34" charset="-120"/>
              </a:rPr>
              <a:t>GOBIERNO DEL SERVICIO</a:t>
            </a:r>
            <a:endParaRPr lang="en-US" sz="1250" dirty="0"/>
          </a:p>
        </p:txBody>
      </p:sp>
      <p:sp>
        <p:nvSpPr>
          <p:cNvPr id="3" name="Text 1"/>
          <p:cNvSpPr/>
          <p:nvPr/>
        </p:nvSpPr>
        <p:spPr>
          <a:xfrm>
            <a:off x="640080" y="749808"/>
            <a:ext cx="10881360" cy="640080"/>
          </a:xfrm>
          <a:prstGeom prst="rect">
            <a:avLst/>
          </a:prstGeom>
          <a:noFill/>
          <a:ln/>
        </p:spPr>
        <p:txBody>
          <a:bodyPr wrap="square" lIns="0" tIns="0" rIns="0" bIns="0" rtlCol="0" anchor="ctr"/>
          <a:lstStyle/>
          <a:p>
            <a:pPr indent="0" marL="0">
              <a:buNone/>
            </a:pPr>
            <a:r>
              <a:rPr lang="en-US" sz="2800" b="1" dirty="0">
                <a:solidFill>
                  <a:srgbClr val="0A1226"/>
                </a:solidFill>
                <a:latin typeface="Poppins" pitchFamily="34" charset="0"/>
                <a:ea typeface="Poppins" pitchFamily="34" charset="-122"/>
                <a:cs typeface="Poppins" pitchFamily="34" charset="-120"/>
              </a:rPr>
              <a:t>Responsabilidades y Condiciones</a:t>
            </a:r>
            <a:endParaRPr lang="en-US" sz="2800" dirty="0"/>
          </a:p>
        </p:txBody>
      </p:sp>
      <p:pic>
        <p:nvPicPr>
          <p:cNvPr id="4" name="Image 0" descr="/home/claude/deck/assets/logo_light.png">    </p:cNvPr>
          <p:cNvPicPr>
            <a:picLocks noChangeAspect="1"/>
          </p:cNvPicPr>
          <p:nvPr/>
        </p:nvPicPr>
        <p:blipFill>
          <a:blip r:embed="rId2"/>
          <a:stretch>
            <a:fillRect/>
          </a:stretch>
        </p:blipFill>
        <p:spPr>
          <a:xfrm>
            <a:off x="10058400" y="502920"/>
            <a:ext cx="1417320" cy="577877"/>
          </a:xfrm>
          <a:prstGeom prst="rect">
            <a:avLst/>
          </a:prstGeom>
        </p:spPr>
      </p:pic>
      <p:sp>
        <p:nvSpPr>
          <p:cNvPr id="5" name="Text 2"/>
          <p:cNvSpPr/>
          <p:nvPr/>
        </p:nvSpPr>
        <p:spPr>
          <a:xfrm>
            <a:off x="11368735" y="6400800"/>
            <a:ext cx="457200" cy="274320"/>
          </a:xfrm>
          <a:prstGeom prst="rect">
            <a:avLst/>
          </a:prstGeom>
          <a:noFill/>
          <a:ln/>
        </p:spPr>
        <p:txBody>
          <a:bodyPr wrap="square" rtlCol="0" anchor="ctr"/>
          <a:lstStyle/>
          <a:p>
            <a:pPr algn="r" indent="0" marL="0">
              <a:buNone/>
            </a:pPr>
            <a:r>
              <a:rPr lang="en-US" sz="1000" dirty="0">
                <a:solidFill>
                  <a:srgbClr val="8A97AC"/>
                </a:solidFill>
                <a:latin typeface="Poppins" pitchFamily="34" charset="0"/>
                <a:ea typeface="Poppins" pitchFamily="34" charset="-122"/>
                <a:cs typeface="Poppins" pitchFamily="34" charset="-120"/>
              </a:rPr>
              <a:t>05</a:t>
            </a:r>
            <a:endParaRPr lang="en-US" sz="1000" dirty="0"/>
          </a:p>
        </p:txBody>
      </p:sp>
      <p:sp>
        <p:nvSpPr>
          <p:cNvPr id="6" name="Shape 3"/>
          <p:cNvSpPr/>
          <p:nvPr/>
        </p:nvSpPr>
        <p:spPr>
          <a:xfrm>
            <a:off x="640080" y="1508760"/>
            <a:ext cx="5303520" cy="2212848"/>
          </a:xfrm>
          <a:prstGeom prst="roundRect">
            <a:avLst>
              <a:gd name="adj" fmla="val 3306"/>
            </a:avLst>
          </a:prstGeom>
          <a:solidFill>
            <a:srgbClr val="FFFFFF"/>
          </a:solidFill>
          <a:ln w="12700">
            <a:solidFill>
              <a:srgbClr val="D8E2EE"/>
            </a:solidFill>
            <a:prstDash val="solid"/>
          </a:ln>
          <a:effectLst>
            <a:outerShdw sx="100000" sy="100000" kx="0" ky="0" algn="bl" rotWithShape="0" blurRad="114300" dist="38100" dir="5400000">
              <a:srgbClr val="9FB3CC">
                <a:alpha val="18000"/>
              </a:srgbClr>
            </a:outerShdw>
          </a:effectLst>
        </p:spPr>
      </p:sp>
      <p:sp>
        <p:nvSpPr>
          <p:cNvPr id="7" name="Shape 4"/>
          <p:cNvSpPr/>
          <p:nvPr/>
        </p:nvSpPr>
        <p:spPr>
          <a:xfrm>
            <a:off x="877824" y="1728216"/>
            <a:ext cx="457200" cy="457200"/>
          </a:xfrm>
          <a:prstGeom prst="roundRect">
            <a:avLst>
              <a:gd name="adj" fmla="val 20000"/>
            </a:avLst>
          </a:prstGeom>
          <a:solidFill>
            <a:srgbClr val="0A1226"/>
          </a:solidFill>
          <a:ln/>
        </p:spPr>
      </p:sp>
      <p:pic>
        <p:nvPicPr>
          <p:cNvPr id="8" name="Image 1" descr="preencoded.png">    </p:cNvPr>
          <p:cNvPicPr>
            <a:picLocks noChangeAspect="1"/>
          </p:cNvPicPr>
          <p:nvPr/>
        </p:nvPicPr>
        <p:blipFill>
          <a:blip r:embed="rId3"/>
          <a:stretch>
            <a:fillRect/>
          </a:stretch>
        </p:blipFill>
        <p:spPr>
          <a:xfrm>
            <a:off x="982980" y="1833372"/>
            <a:ext cx="246888" cy="246888"/>
          </a:xfrm>
          <a:prstGeom prst="rect">
            <a:avLst/>
          </a:prstGeom>
        </p:spPr>
      </p:pic>
      <p:sp>
        <p:nvSpPr>
          <p:cNvPr id="9" name="Text 5"/>
          <p:cNvSpPr/>
          <p:nvPr/>
        </p:nvSpPr>
        <p:spPr>
          <a:xfrm>
            <a:off x="1463040" y="1728216"/>
            <a:ext cx="4251960" cy="457200"/>
          </a:xfrm>
          <a:prstGeom prst="rect">
            <a:avLst/>
          </a:prstGeom>
          <a:noFill/>
          <a:ln/>
        </p:spPr>
        <p:txBody>
          <a:bodyPr wrap="square" lIns="0" tIns="0" rIns="0" bIns="0" rtlCol="0" anchor="ctr"/>
          <a:lstStyle/>
          <a:p>
            <a:pPr indent="0" marL="0">
              <a:buNone/>
            </a:pPr>
            <a:r>
              <a:rPr lang="en-US" sz="1300" b="1" dirty="0">
                <a:solidFill>
                  <a:srgbClr val="0A1226"/>
                </a:solidFill>
                <a:latin typeface="Poppins" pitchFamily="34" charset="0"/>
                <a:ea typeface="Poppins" pitchFamily="34" charset="-122"/>
                <a:cs typeface="Poppins" pitchFamily="34" charset="-120"/>
              </a:rPr>
              <a:t>SEIDOR aporta</a:t>
            </a:r>
            <a:endParaRPr lang="en-US" sz="1300" dirty="0"/>
          </a:p>
        </p:txBody>
      </p:sp>
      <p:sp>
        <p:nvSpPr>
          <p:cNvPr id="10" name="Text 6"/>
          <p:cNvSpPr/>
          <p:nvPr/>
        </p:nvSpPr>
        <p:spPr>
          <a:xfrm>
            <a:off x="877824" y="2331720"/>
            <a:ext cx="4846320" cy="1252728"/>
          </a:xfrm>
          <a:prstGeom prst="rect">
            <a:avLst/>
          </a:prstGeom>
          <a:noFill/>
          <a:ln/>
        </p:spPr>
        <p:txBody>
          <a:bodyPr wrap="square" lIns="0" tIns="0" rIns="0" bIns="0" rtlCol="0" anchor="ctr"/>
          <a:lstStyle/>
          <a:p>
            <a:pPr indent="0" marL="0">
              <a:lnSpc>
                <a:spcPct val="115000"/>
              </a:lnSpc>
              <a:buNone/>
            </a:pPr>
            <a:r>
              <a:rPr lang="en-US" sz="1030" dirty="0">
                <a:solidFill>
                  <a:srgbClr val="5E6B82"/>
                </a:solidFill>
                <a:latin typeface="Poppins" pitchFamily="34" charset="0"/>
                <a:ea typeface="Poppins" pitchFamily="34" charset="-122"/>
                <a:cs typeface="Poppins" pitchFamily="34" charset="-120"/>
              </a:rPr>
              <a:t>Consultores SAP con el perfil y experiencia acordados, disponibilidad mensual comprometida, respaldo metodológico, reporte de horas consumidas por perfil y gestión del reemplazo del consultor en caso de ser necesario.</a:t>
            </a:r>
            <a:endParaRPr lang="en-US" sz="1030" dirty="0"/>
          </a:p>
        </p:txBody>
      </p:sp>
      <p:sp>
        <p:nvSpPr>
          <p:cNvPr id="11" name="Shape 7"/>
          <p:cNvSpPr/>
          <p:nvPr/>
        </p:nvSpPr>
        <p:spPr>
          <a:xfrm>
            <a:off x="6245352" y="1508760"/>
            <a:ext cx="5303520" cy="2212848"/>
          </a:xfrm>
          <a:prstGeom prst="roundRect">
            <a:avLst>
              <a:gd name="adj" fmla="val 3306"/>
            </a:avLst>
          </a:prstGeom>
          <a:solidFill>
            <a:srgbClr val="FFFFFF"/>
          </a:solidFill>
          <a:ln w="12700">
            <a:solidFill>
              <a:srgbClr val="D8E2EE"/>
            </a:solidFill>
            <a:prstDash val="solid"/>
          </a:ln>
          <a:effectLst>
            <a:outerShdw sx="100000" sy="100000" kx="0" ky="0" algn="bl" rotWithShape="0" blurRad="114300" dist="38100" dir="5400000">
              <a:srgbClr val="9FB3CC">
                <a:alpha val="18000"/>
              </a:srgbClr>
            </a:outerShdw>
          </a:effectLst>
        </p:spPr>
      </p:sp>
      <p:sp>
        <p:nvSpPr>
          <p:cNvPr id="12" name="Shape 8"/>
          <p:cNvSpPr/>
          <p:nvPr/>
        </p:nvSpPr>
        <p:spPr>
          <a:xfrm>
            <a:off x="6483096" y="1728216"/>
            <a:ext cx="457200" cy="457200"/>
          </a:xfrm>
          <a:prstGeom prst="roundRect">
            <a:avLst>
              <a:gd name="adj" fmla="val 20000"/>
            </a:avLst>
          </a:prstGeom>
          <a:solidFill>
            <a:srgbClr val="1E5BB8"/>
          </a:solidFill>
          <a:ln/>
        </p:spPr>
      </p:sp>
      <p:pic>
        <p:nvPicPr>
          <p:cNvPr id="13" name="Image 2" descr="preencoded.png">    </p:cNvPr>
          <p:cNvPicPr>
            <a:picLocks noChangeAspect="1"/>
          </p:cNvPicPr>
          <p:nvPr/>
        </p:nvPicPr>
        <p:blipFill>
          <a:blip r:embed="rId4"/>
          <a:stretch>
            <a:fillRect/>
          </a:stretch>
        </p:blipFill>
        <p:spPr>
          <a:xfrm>
            <a:off x="6588252" y="1833372"/>
            <a:ext cx="246888" cy="246888"/>
          </a:xfrm>
          <a:prstGeom prst="rect">
            <a:avLst/>
          </a:prstGeom>
        </p:spPr>
      </p:pic>
      <p:sp>
        <p:nvSpPr>
          <p:cNvPr id="14" name="Text 9"/>
          <p:cNvSpPr/>
          <p:nvPr/>
        </p:nvSpPr>
        <p:spPr>
          <a:xfrm>
            <a:off x="7068312" y="1728216"/>
            <a:ext cx="4251960" cy="457200"/>
          </a:xfrm>
          <a:prstGeom prst="rect">
            <a:avLst/>
          </a:prstGeom>
          <a:noFill/>
          <a:ln/>
        </p:spPr>
        <p:txBody>
          <a:bodyPr wrap="square" lIns="0" tIns="0" rIns="0" bIns="0" rtlCol="0" anchor="ctr"/>
          <a:lstStyle/>
          <a:p>
            <a:pPr indent="0" marL="0">
              <a:buNone/>
            </a:pPr>
            <a:r>
              <a:rPr lang="en-US" sz="1300" b="1" dirty="0">
                <a:solidFill>
                  <a:srgbClr val="0A1226"/>
                </a:solidFill>
                <a:latin typeface="Poppins" pitchFamily="34" charset="0"/>
                <a:ea typeface="Poppins" pitchFamily="34" charset="-122"/>
                <a:cs typeface="Poppins" pitchFamily="34" charset="-120"/>
              </a:rPr>
              <a:t>El cliente es responsable de</a:t>
            </a:r>
            <a:endParaRPr lang="en-US" sz="1300" dirty="0"/>
          </a:p>
        </p:txBody>
      </p:sp>
      <p:sp>
        <p:nvSpPr>
          <p:cNvPr id="15" name="Text 10"/>
          <p:cNvSpPr/>
          <p:nvPr/>
        </p:nvSpPr>
        <p:spPr>
          <a:xfrm>
            <a:off x="6483096" y="2331720"/>
            <a:ext cx="4846320" cy="1252728"/>
          </a:xfrm>
          <a:prstGeom prst="rect">
            <a:avLst/>
          </a:prstGeom>
          <a:noFill/>
          <a:ln/>
        </p:spPr>
        <p:txBody>
          <a:bodyPr wrap="square" lIns="0" tIns="0" rIns="0" bIns="0" rtlCol="0" anchor="ctr"/>
          <a:lstStyle/>
          <a:p>
            <a:pPr indent="0" marL="0">
              <a:lnSpc>
                <a:spcPct val="115000"/>
              </a:lnSpc>
              <a:buNone/>
            </a:pPr>
            <a:r>
              <a:rPr lang="en-US" sz="1030" dirty="0">
                <a:solidFill>
                  <a:srgbClr val="5E6B82"/>
                </a:solidFill>
                <a:latin typeface="Poppins" pitchFamily="34" charset="0"/>
                <a:ea typeface="Poppins" pitchFamily="34" charset="-122"/>
                <a:cs typeface="Poppins" pitchFamily="34" charset="-120"/>
              </a:rPr>
              <a:t>Definir, priorizar y asignar las actividades; dirigir y controlar el trabajo del equipo; validar los resultados; disponer de los accesos y ambientes necesarios; y asumir la responsabilidad sobre el uso de las horas contratadas.</a:t>
            </a:r>
            <a:endParaRPr lang="en-US" sz="1030" dirty="0"/>
          </a:p>
        </p:txBody>
      </p:sp>
      <p:sp>
        <p:nvSpPr>
          <p:cNvPr id="16" name="Shape 11"/>
          <p:cNvSpPr/>
          <p:nvPr/>
        </p:nvSpPr>
        <p:spPr>
          <a:xfrm>
            <a:off x="640080" y="3922776"/>
            <a:ext cx="5303520" cy="2212848"/>
          </a:xfrm>
          <a:prstGeom prst="roundRect">
            <a:avLst>
              <a:gd name="adj" fmla="val 3306"/>
            </a:avLst>
          </a:prstGeom>
          <a:solidFill>
            <a:srgbClr val="FFFFFF"/>
          </a:solidFill>
          <a:ln w="12700">
            <a:solidFill>
              <a:srgbClr val="D8E2EE"/>
            </a:solidFill>
            <a:prstDash val="solid"/>
          </a:ln>
          <a:effectLst>
            <a:outerShdw sx="100000" sy="100000" kx="0" ky="0" algn="bl" rotWithShape="0" blurRad="114300" dist="38100" dir="5400000">
              <a:srgbClr val="9FB3CC">
                <a:alpha val="18000"/>
              </a:srgbClr>
            </a:outerShdw>
          </a:effectLst>
        </p:spPr>
      </p:sp>
      <p:sp>
        <p:nvSpPr>
          <p:cNvPr id="17" name="Shape 12"/>
          <p:cNvSpPr/>
          <p:nvPr/>
        </p:nvSpPr>
        <p:spPr>
          <a:xfrm>
            <a:off x="877824" y="4142232"/>
            <a:ext cx="457200" cy="457200"/>
          </a:xfrm>
          <a:prstGeom prst="roundRect">
            <a:avLst>
              <a:gd name="adj" fmla="val 20000"/>
            </a:avLst>
          </a:prstGeom>
          <a:solidFill>
            <a:srgbClr val="0A1226"/>
          </a:solidFill>
          <a:ln/>
        </p:spPr>
      </p:sp>
      <p:pic>
        <p:nvPicPr>
          <p:cNvPr id="18" name="Image 3" descr="preencoded.png">    </p:cNvPr>
          <p:cNvPicPr>
            <a:picLocks noChangeAspect="1"/>
          </p:cNvPicPr>
          <p:nvPr/>
        </p:nvPicPr>
        <p:blipFill>
          <a:blip r:embed="rId5"/>
          <a:stretch>
            <a:fillRect/>
          </a:stretch>
        </p:blipFill>
        <p:spPr>
          <a:xfrm>
            <a:off x="982980" y="4247388"/>
            <a:ext cx="246888" cy="246888"/>
          </a:xfrm>
          <a:prstGeom prst="rect">
            <a:avLst/>
          </a:prstGeom>
        </p:spPr>
      </p:pic>
      <p:sp>
        <p:nvSpPr>
          <p:cNvPr id="19" name="Text 13"/>
          <p:cNvSpPr/>
          <p:nvPr/>
        </p:nvSpPr>
        <p:spPr>
          <a:xfrm>
            <a:off x="1463040" y="4142232"/>
            <a:ext cx="4251960" cy="457200"/>
          </a:xfrm>
          <a:prstGeom prst="rect">
            <a:avLst/>
          </a:prstGeom>
          <a:noFill/>
          <a:ln/>
        </p:spPr>
        <p:txBody>
          <a:bodyPr wrap="square" lIns="0" tIns="0" rIns="0" bIns="0" rtlCol="0" anchor="ctr"/>
          <a:lstStyle/>
          <a:p>
            <a:pPr indent="0" marL="0">
              <a:buNone/>
            </a:pPr>
            <a:r>
              <a:rPr lang="en-US" sz="1300" b="1" dirty="0">
                <a:solidFill>
                  <a:srgbClr val="0A1226"/>
                </a:solidFill>
                <a:latin typeface="Poppins" pitchFamily="34" charset="0"/>
                <a:ea typeface="Poppins" pitchFamily="34" charset="-122"/>
                <a:cs typeface="Poppins" pitchFamily="34" charset="-120"/>
              </a:rPr>
              <a:t>Modelo de facturación</a:t>
            </a:r>
            <a:endParaRPr lang="en-US" sz="1300" dirty="0"/>
          </a:p>
        </p:txBody>
      </p:sp>
      <p:sp>
        <p:nvSpPr>
          <p:cNvPr id="20" name="Text 14"/>
          <p:cNvSpPr/>
          <p:nvPr/>
        </p:nvSpPr>
        <p:spPr>
          <a:xfrm>
            <a:off x="877824" y="4745736"/>
            <a:ext cx="4846320" cy="1252728"/>
          </a:xfrm>
          <a:prstGeom prst="rect">
            <a:avLst/>
          </a:prstGeom>
          <a:noFill/>
          <a:ln/>
        </p:spPr>
        <p:txBody>
          <a:bodyPr wrap="square" lIns="0" tIns="0" rIns="0" bIns="0" rtlCol="0" anchor="ctr"/>
          <a:lstStyle/>
          <a:p>
            <a:pPr indent="0" marL="0">
              <a:lnSpc>
                <a:spcPct val="115000"/>
              </a:lnSpc>
              <a:buNone/>
            </a:pPr>
            <a:r>
              <a:rPr lang="en-US" sz="1030" dirty="0">
                <a:solidFill>
                  <a:srgbClr val="5E6B82"/>
                </a:solidFill>
                <a:latin typeface="Poppins" pitchFamily="34" charset="0"/>
                <a:ea typeface="Poppins" pitchFamily="34" charset="-122"/>
                <a:cs typeface="Poppins" pitchFamily="34" charset="-120"/>
              </a:rPr>
              <a:t>La facturación es mensual, considerando los días hábiles de cada mes. Al cierre del periodo se factura el detalle de horas por perfil según el bloque contratado, con independencia de las actividades en que se hayan utilizado.</a:t>
            </a:r>
            <a:endParaRPr lang="en-US" sz="1030" dirty="0"/>
          </a:p>
        </p:txBody>
      </p:sp>
      <p:sp>
        <p:nvSpPr>
          <p:cNvPr id="21" name="Shape 15"/>
          <p:cNvSpPr/>
          <p:nvPr/>
        </p:nvSpPr>
        <p:spPr>
          <a:xfrm>
            <a:off x="6245352" y="3922776"/>
            <a:ext cx="5303520" cy="2212848"/>
          </a:xfrm>
          <a:prstGeom prst="roundRect">
            <a:avLst>
              <a:gd name="adj" fmla="val 3306"/>
            </a:avLst>
          </a:prstGeom>
          <a:solidFill>
            <a:srgbClr val="FFFFFF"/>
          </a:solidFill>
          <a:ln w="12700">
            <a:solidFill>
              <a:srgbClr val="D8E2EE"/>
            </a:solidFill>
            <a:prstDash val="solid"/>
          </a:ln>
          <a:effectLst>
            <a:outerShdw sx="100000" sy="100000" kx="0" ky="0" algn="bl" rotWithShape="0" blurRad="114300" dist="38100" dir="5400000">
              <a:srgbClr val="9FB3CC">
                <a:alpha val="18000"/>
              </a:srgbClr>
            </a:outerShdw>
          </a:effectLst>
        </p:spPr>
      </p:sp>
      <p:sp>
        <p:nvSpPr>
          <p:cNvPr id="22" name="Shape 16"/>
          <p:cNvSpPr/>
          <p:nvPr/>
        </p:nvSpPr>
        <p:spPr>
          <a:xfrm>
            <a:off x="6483096" y="4142232"/>
            <a:ext cx="457200" cy="457200"/>
          </a:xfrm>
          <a:prstGeom prst="roundRect">
            <a:avLst>
              <a:gd name="adj" fmla="val 20000"/>
            </a:avLst>
          </a:prstGeom>
          <a:solidFill>
            <a:srgbClr val="1E5BB8"/>
          </a:solidFill>
          <a:ln/>
        </p:spPr>
      </p:sp>
      <p:pic>
        <p:nvPicPr>
          <p:cNvPr id="23" name="Image 4" descr="preencoded.png">    </p:cNvPr>
          <p:cNvPicPr>
            <a:picLocks noChangeAspect="1"/>
          </p:cNvPicPr>
          <p:nvPr/>
        </p:nvPicPr>
        <p:blipFill>
          <a:blip r:embed="rId6"/>
          <a:stretch>
            <a:fillRect/>
          </a:stretch>
        </p:blipFill>
        <p:spPr>
          <a:xfrm>
            <a:off x="6588252" y="4247388"/>
            <a:ext cx="246888" cy="246888"/>
          </a:xfrm>
          <a:prstGeom prst="rect">
            <a:avLst/>
          </a:prstGeom>
        </p:spPr>
      </p:pic>
      <p:sp>
        <p:nvSpPr>
          <p:cNvPr id="24" name="Text 17"/>
          <p:cNvSpPr/>
          <p:nvPr/>
        </p:nvSpPr>
        <p:spPr>
          <a:xfrm>
            <a:off x="7068312" y="4142232"/>
            <a:ext cx="4251960" cy="457200"/>
          </a:xfrm>
          <a:prstGeom prst="rect">
            <a:avLst/>
          </a:prstGeom>
          <a:noFill/>
          <a:ln/>
        </p:spPr>
        <p:txBody>
          <a:bodyPr wrap="square" lIns="0" tIns="0" rIns="0" bIns="0" rtlCol="0" anchor="ctr"/>
          <a:lstStyle/>
          <a:p>
            <a:pPr indent="0" marL="0">
              <a:buNone/>
            </a:pPr>
            <a:r>
              <a:rPr lang="en-US" sz="1300" b="1" dirty="0">
                <a:solidFill>
                  <a:srgbClr val="0A1226"/>
                </a:solidFill>
                <a:latin typeface="Poppins" pitchFamily="34" charset="0"/>
                <a:ea typeface="Poppins" pitchFamily="34" charset="-122"/>
                <a:cs typeface="Poppins" pitchFamily="34" charset="-120"/>
              </a:rPr>
              <a:t>Modificación o cancelación</a:t>
            </a:r>
            <a:endParaRPr lang="en-US" sz="1300" dirty="0"/>
          </a:p>
        </p:txBody>
      </p:sp>
      <p:sp>
        <p:nvSpPr>
          <p:cNvPr id="25" name="Text 18"/>
          <p:cNvSpPr/>
          <p:nvPr/>
        </p:nvSpPr>
        <p:spPr>
          <a:xfrm>
            <a:off x="6483096" y="4745736"/>
            <a:ext cx="4846320" cy="1252728"/>
          </a:xfrm>
          <a:prstGeom prst="rect">
            <a:avLst/>
          </a:prstGeom>
          <a:noFill/>
          <a:ln/>
        </p:spPr>
        <p:txBody>
          <a:bodyPr wrap="square" lIns="0" tIns="0" rIns="0" bIns="0" rtlCol="0" anchor="ctr"/>
          <a:lstStyle/>
          <a:p>
            <a:pPr indent="0" marL="0">
              <a:lnSpc>
                <a:spcPct val="115000"/>
              </a:lnSpc>
              <a:buNone/>
            </a:pPr>
            <a:r>
              <a:rPr lang="en-US" sz="1030" dirty="0">
                <a:solidFill>
                  <a:srgbClr val="5E6B82"/>
                </a:solidFill>
                <a:latin typeface="Poppins" pitchFamily="34" charset="0"/>
                <a:ea typeface="Poppins" pitchFamily="34" charset="-122"/>
                <a:cs typeface="Poppins" pitchFamily="34" charset="-120"/>
              </a:rPr>
              <a:t>Cualquier cambio o cancelación de la asignación debe avisarse con 2 semanas de anticipación. Las horas no utilizadas en el mes no son acumulables ni reembolsables, ya que corresponden a capacidad reservada para el cliente.</a:t>
            </a:r>
            <a:endParaRPr lang="en-US" sz="103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lIns="0" tIns="0" rIns="0" bIns="0" rtlCol="0" anchor="ctr"/>
          <a:lstStyle/>
          <a:p>
            <a:pPr indent="0" marL="0">
              <a:buNone/>
            </a:pPr>
            <a:r>
              <a:rPr lang="en-US" sz="1250" b="1" spc="200" kern="0" dirty="0">
                <a:solidFill>
                  <a:srgbClr val="33B4DD"/>
                </a:solidFill>
                <a:latin typeface="Poppins" pitchFamily="34" charset="0"/>
                <a:ea typeface="Poppins" pitchFamily="34" charset="-122"/>
                <a:cs typeface="Poppins" pitchFamily="34" charset="-120"/>
              </a:rPr>
              <a:t>PROPUESTA ECONÓMICA</a:t>
            </a:r>
            <a:endParaRPr lang="en-US" sz="1250" dirty="0"/>
          </a:p>
        </p:txBody>
      </p:sp>
      <p:sp>
        <p:nvSpPr>
          <p:cNvPr id="3" name="Text 1"/>
          <p:cNvSpPr/>
          <p:nvPr/>
        </p:nvSpPr>
        <p:spPr>
          <a:xfrm>
            <a:off x="640080" y="749808"/>
            <a:ext cx="10881360" cy="640080"/>
          </a:xfrm>
          <a:prstGeom prst="rect">
            <a:avLst/>
          </a:prstGeom>
          <a:noFill/>
          <a:ln/>
        </p:spPr>
        <p:txBody>
          <a:bodyPr wrap="square" lIns="0" tIns="0" rIns="0" bIns="0" rtlCol="0" anchor="ctr"/>
          <a:lstStyle/>
          <a:p>
            <a:pPr indent="0" marL="0">
              <a:buNone/>
            </a:pPr>
            <a:r>
              <a:rPr lang="en-US" sz="2800" b="1" dirty="0">
                <a:solidFill>
                  <a:srgbClr val="0A1226"/>
                </a:solidFill>
                <a:latin typeface="Poppins" pitchFamily="34" charset="0"/>
                <a:ea typeface="Poppins" pitchFamily="34" charset="-122"/>
                <a:cs typeface="Poppins" pitchFamily="34" charset="-120"/>
              </a:rPr>
              <a:t>Oferta Económica</a:t>
            </a:r>
            <a:endParaRPr lang="en-US" sz="2800" dirty="0"/>
          </a:p>
        </p:txBody>
      </p:sp>
      <p:pic>
        <p:nvPicPr>
          <p:cNvPr id="4" name="Image 0" descr="/home/claude/deck/assets/logo_light.png">    </p:cNvPr>
          <p:cNvPicPr>
            <a:picLocks noChangeAspect="1"/>
          </p:cNvPicPr>
          <p:nvPr/>
        </p:nvPicPr>
        <p:blipFill>
          <a:blip r:embed="rId2"/>
          <a:stretch>
            <a:fillRect/>
          </a:stretch>
        </p:blipFill>
        <p:spPr>
          <a:xfrm>
            <a:off x="10058400" y="502920"/>
            <a:ext cx="1417320" cy="577877"/>
          </a:xfrm>
          <a:prstGeom prst="rect">
            <a:avLst/>
          </a:prstGeom>
        </p:spPr>
      </p:pic>
      <p:sp>
        <p:nvSpPr>
          <p:cNvPr id="5" name="Text 2"/>
          <p:cNvSpPr/>
          <p:nvPr/>
        </p:nvSpPr>
        <p:spPr>
          <a:xfrm>
            <a:off x="11368735" y="6400800"/>
            <a:ext cx="457200" cy="274320"/>
          </a:xfrm>
          <a:prstGeom prst="rect">
            <a:avLst/>
          </a:prstGeom>
          <a:noFill/>
          <a:ln/>
        </p:spPr>
        <p:txBody>
          <a:bodyPr wrap="square" rtlCol="0" anchor="ctr"/>
          <a:lstStyle/>
          <a:p>
            <a:pPr algn="r" indent="0" marL="0">
              <a:buNone/>
            </a:pPr>
            <a:r>
              <a:rPr lang="en-US" sz="1000" dirty="0">
                <a:solidFill>
                  <a:srgbClr val="8A97AC"/>
                </a:solidFill>
                <a:latin typeface="Poppins" pitchFamily="34" charset="0"/>
                <a:ea typeface="Poppins" pitchFamily="34" charset="-122"/>
                <a:cs typeface="Poppins" pitchFamily="34" charset="-120"/>
              </a:rPr>
              <a:t>06</a:t>
            </a:r>
            <a:endParaRPr lang="en-US" sz="1000" dirty="0"/>
          </a:p>
        </p:txBody>
      </p:sp>
      <p:sp>
        <p:nvSpPr>
          <p:cNvPr id="6" name="Text 3"/>
          <p:cNvSpPr/>
          <p:nvPr/>
        </p:nvSpPr>
        <p:spPr>
          <a:xfrm>
            <a:off x="640080" y="1417320"/>
            <a:ext cx="10881360" cy="502920"/>
          </a:xfrm>
          <a:prstGeom prst="rect">
            <a:avLst/>
          </a:prstGeom>
          <a:noFill/>
          <a:ln/>
        </p:spPr>
        <p:txBody>
          <a:bodyPr wrap="square" lIns="0" tIns="0" rIns="0" bIns="0" rtlCol="0" anchor="ctr"/>
          <a:lstStyle/>
          <a:p>
            <a:pPr indent="0" marL="0">
              <a:lnSpc>
                <a:spcPct val="115000"/>
              </a:lnSpc>
              <a:buNone/>
            </a:pPr>
            <a:r>
              <a:rPr lang="en-US" sz="1300" dirty="0">
                <a:solidFill>
                  <a:srgbClr val="16223A"/>
                </a:solidFill>
                <a:latin typeface="Poppins" pitchFamily="34" charset="0"/>
                <a:ea typeface="Poppins" pitchFamily="34" charset="-122"/>
                <a:cs typeface="Poppins" pitchFamily="34" charset="-120"/>
              </a:rPr>
              <a:t>Tarifas base del servicio paquetizado Time &amp; Material SAP, con una dedicación mínima de 80 HH (10 jornadas) mensuales por perfil:</a:t>
            </a:r>
            <a:endParaRPr lang="en-US" sz="1300" dirty="0"/>
          </a:p>
        </p:txBody>
      </p:sp>
      <p:sp>
        <p:nvSpPr>
          <p:cNvPr id="7" name="Shape 4"/>
          <p:cNvSpPr/>
          <p:nvPr/>
        </p:nvSpPr>
        <p:spPr>
          <a:xfrm>
            <a:off x="640080" y="2103120"/>
            <a:ext cx="5486400" cy="475488"/>
          </a:xfrm>
          <a:prstGeom prst="rect">
            <a:avLst/>
          </a:prstGeom>
          <a:solidFill>
            <a:srgbClr val="0A1226"/>
          </a:solidFill>
          <a:ln/>
        </p:spPr>
      </p:sp>
      <p:sp>
        <p:nvSpPr>
          <p:cNvPr id="8" name="Text 5"/>
          <p:cNvSpPr/>
          <p:nvPr/>
        </p:nvSpPr>
        <p:spPr>
          <a:xfrm>
            <a:off x="804672" y="2103120"/>
            <a:ext cx="5193792" cy="475488"/>
          </a:xfrm>
          <a:prstGeom prst="rect">
            <a:avLst/>
          </a:prstGeom>
          <a:noFill/>
          <a:ln/>
        </p:spPr>
        <p:txBody>
          <a:bodyPr wrap="square" lIns="0" tIns="0" rIns="0" bIns="0" rtlCol="0" anchor="ctr"/>
          <a:lstStyle/>
          <a:p>
            <a:pPr algn="l" indent="0" marL="0">
              <a:lnSpc>
                <a:spcPct val="105000"/>
              </a:lnSpc>
              <a:buNone/>
            </a:pPr>
            <a:r>
              <a:rPr lang="en-US" sz="1200" b="1" dirty="0">
                <a:solidFill>
                  <a:srgbClr val="FFFFFF"/>
                </a:solidFill>
                <a:latin typeface="Poppins" pitchFamily="34" charset="0"/>
                <a:ea typeface="Poppins" pitchFamily="34" charset="-122"/>
                <a:cs typeface="Poppins" pitchFamily="34" charset="-120"/>
              </a:rPr>
              <a:t>Servicios Time &amp; Material SAP – Perfil</a:t>
            </a:r>
            <a:endParaRPr lang="en-US" sz="1200" dirty="0"/>
          </a:p>
        </p:txBody>
      </p:sp>
      <p:sp>
        <p:nvSpPr>
          <p:cNvPr id="9" name="Shape 6"/>
          <p:cNvSpPr/>
          <p:nvPr/>
        </p:nvSpPr>
        <p:spPr>
          <a:xfrm>
            <a:off x="6126480" y="2103120"/>
            <a:ext cx="3108960" cy="475488"/>
          </a:xfrm>
          <a:prstGeom prst="rect">
            <a:avLst/>
          </a:prstGeom>
          <a:solidFill>
            <a:srgbClr val="0A1226"/>
          </a:solidFill>
          <a:ln/>
        </p:spPr>
      </p:sp>
      <p:sp>
        <p:nvSpPr>
          <p:cNvPr id="10" name="Text 7"/>
          <p:cNvSpPr/>
          <p:nvPr/>
        </p:nvSpPr>
        <p:spPr>
          <a:xfrm>
            <a:off x="6291072" y="2103120"/>
            <a:ext cx="2816352" cy="475488"/>
          </a:xfrm>
          <a:prstGeom prst="rect">
            <a:avLst/>
          </a:prstGeom>
          <a:noFill/>
          <a:ln/>
        </p:spPr>
        <p:txBody>
          <a:bodyPr wrap="square" lIns="0" tIns="0" rIns="0" bIns="0" rtlCol="0" anchor="ctr"/>
          <a:lstStyle/>
          <a:p>
            <a:pPr algn="ctr" indent="0" marL="0">
              <a:lnSpc>
                <a:spcPct val="105000"/>
              </a:lnSpc>
              <a:buNone/>
            </a:pPr>
            <a:r>
              <a:rPr lang="en-US" sz="1200" b="1" dirty="0">
                <a:solidFill>
                  <a:srgbClr val="FFFFFF"/>
                </a:solidFill>
                <a:latin typeface="Poppins" pitchFamily="34" charset="0"/>
                <a:ea typeface="Poppins" pitchFamily="34" charset="-122"/>
                <a:cs typeface="Poppins" pitchFamily="34" charset="-120"/>
              </a:rPr>
              <a:t>Valor mínimo 80 HH/mes USD (*)</a:t>
            </a:r>
            <a:endParaRPr lang="en-US" sz="1200" dirty="0"/>
          </a:p>
        </p:txBody>
      </p:sp>
      <p:sp>
        <p:nvSpPr>
          <p:cNvPr id="11" name="Shape 8"/>
          <p:cNvSpPr/>
          <p:nvPr/>
        </p:nvSpPr>
        <p:spPr>
          <a:xfrm>
            <a:off x="9235440" y="2103120"/>
            <a:ext cx="2286000" cy="475488"/>
          </a:xfrm>
          <a:prstGeom prst="rect">
            <a:avLst/>
          </a:prstGeom>
          <a:solidFill>
            <a:srgbClr val="0A1226"/>
          </a:solidFill>
          <a:ln/>
        </p:spPr>
      </p:sp>
      <p:sp>
        <p:nvSpPr>
          <p:cNvPr id="12" name="Text 9"/>
          <p:cNvSpPr/>
          <p:nvPr/>
        </p:nvSpPr>
        <p:spPr>
          <a:xfrm>
            <a:off x="9400032" y="2103120"/>
            <a:ext cx="1993392" cy="475488"/>
          </a:xfrm>
          <a:prstGeom prst="rect">
            <a:avLst/>
          </a:prstGeom>
          <a:noFill/>
          <a:ln/>
        </p:spPr>
        <p:txBody>
          <a:bodyPr wrap="square" lIns="0" tIns="0" rIns="0" bIns="0" rtlCol="0" anchor="ctr"/>
          <a:lstStyle/>
          <a:p>
            <a:pPr algn="ctr" indent="0" marL="0">
              <a:lnSpc>
                <a:spcPct val="105000"/>
              </a:lnSpc>
              <a:buNone/>
            </a:pPr>
            <a:r>
              <a:rPr lang="en-US" sz="1200" b="1" dirty="0">
                <a:solidFill>
                  <a:srgbClr val="FFFFFF"/>
                </a:solidFill>
                <a:latin typeface="Poppins" pitchFamily="34" charset="0"/>
                <a:ea typeface="Poppins" pitchFamily="34" charset="-122"/>
                <a:cs typeface="Poppins" pitchFamily="34" charset="-120"/>
              </a:rPr>
              <a:t>Valor HH USD (*)</a:t>
            </a:r>
            <a:endParaRPr lang="en-US" sz="1200" dirty="0"/>
          </a:p>
        </p:txBody>
      </p:sp>
      <p:sp>
        <p:nvSpPr>
          <p:cNvPr id="13" name="Text 10"/>
          <p:cNvSpPr/>
          <p:nvPr/>
        </p:nvSpPr>
        <p:spPr>
          <a:xfrm>
            <a:off x="804672" y="2578608"/>
            <a:ext cx="5193792" cy="475488"/>
          </a:xfrm>
          <a:prstGeom prst="rect">
            <a:avLst/>
          </a:prstGeom>
          <a:noFill/>
          <a:ln/>
        </p:spPr>
        <p:txBody>
          <a:bodyPr wrap="square" lIns="0" tIns="0" rIns="0" bIns="0" rtlCol="0" anchor="ctr"/>
          <a:lstStyle/>
          <a:p>
            <a:pPr algn="l" indent="0" marL="0">
              <a:lnSpc>
                <a:spcPct val="105000"/>
              </a:lnSpc>
              <a:buNone/>
            </a:pPr>
            <a:r>
              <a:rPr lang="en-US" sz="1200" dirty="0">
                <a:solidFill>
                  <a:srgbClr val="0A1226"/>
                </a:solidFill>
                <a:latin typeface="Poppins" pitchFamily="34" charset="0"/>
                <a:ea typeface="Poppins" pitchFamily="34" charset="-122"/>
                <a:cs typeface="Poppins" pitchFamily="34" charset="-120"/>
              </a:rPr>
              <a:t>Consultor Funcional Back Office (FI-MM-SD)</a:t>
            </a:r>
            <a:endParaRPr lang="en-US" sz="1200" dirty="0"/>
          </a:p>
        </p:txBody>
      </p:sp>
      <p:sp>
        <p:nvSpPr>
          <p:cNvPr id="14" name="Text 11"/>
          <p:cNvSpPr/>
          <p:nvPr/>
        </p:nvSpPr>
        <p:spPr>
          <a:xfrm>
            <a:off x="6291072" y="2578608"/>
            <a:ext cx="2816352" cy="475488"/>
          </a:xfrm>
          <a:prstGeom prst="rect">
            <a:avLst/>
          </a:prstGeom>
          <a:noFill/>
          <a:ln/>
        </p:spPr>
        <p:txBody>
          <a:bodyPr wrap="square" lIns="0" tIns="0" rIns="0" bIns="0" rtlCol="0" anchor="ctr"/>
          <a:lstStyle/>
          <a:p>
            <a:pPr algn="ctr" indent="0" marL="0">
              <a:lnSpc>
                <a:spcPct val="105000"/>
              </a:lnSpc>
              <a:buNone/>
            </a:pPr>
            <a:r>
              <a:rPr lang="en-US" sz="1200" b="1" dirty="0">
                <a:solidFill>
                  <a:srgbClr val="0A1226"/>
                </a:solidFill>
                <a:latin typeface="Poppins" pitchFamily="34" charset="0"/>
                <a:ea typeface="Poppins" pitchFamily="34" charset="-122"/>
                <a:cs typeface="Poppins" pitchFamily="34" charset="-120"/>
              </a:rPr>
              <a:t>USD 5,760</a:t>
            </a:r>
            <a:endParaRPr lang="en-US" sz="1200" dirty="0"/>
          </a:p>
        </p:txBody>
      </p:sp>
      <p:sp>
        <p:nvSpPr>
          <p:cNvPr id="15" name="Text 12"/>
          <p:cNvSpPr/>
          <p:nvPr/>
        </p:nvSpPr>
        <p:spPr>
          <a:xfrm>
            <a:off x="9400032" y="2578608"/>
            <a:ext cx="1993392" cy="475488"/>
          </a:xfrm>
          <a:prstGeom prst="rect">
            <a:avLst/>
          </a:prstGeom>
          <a:noFill/>
          <a:ln/>
        </p:spPr>
        <p:txBody>
          <a:bodyPr wrap="square" lIns="0" tIns="0" rIns="0" bIns="0" rtlCol="0" anchor="ctr"/>
          <a:lstStyle/>
          <a:p>
            <a:pPr algn="ctr" indent="0" marL="0">
              <a:lnSpc>
                <a:spcPct val="105000"/>
              </a:lnSpc>
              <a:buNone/>
            </a:pPr>
            <a:r>
              <a:rPr lang="en-US" sz="1200" b="1" dirty="0">
                <a:solidFill>
                  <a:srgbClr val="0A1226"/>
                </a:solidFill>
                <a:latin typeface="Poppins" pitchFamily="34" charset="0"/>
                <a:ea typeface="Poppins" pitchFamily="34" charset="-122"/>
                <a:cs typeface="Poppins" pitchFamily="34" charset="-120"/>
              </a:rPr>
              <a:t>USD 72</a:t>
            </a:r>
            <a:endParaRPr lang="en-US" sz="1200" dirty="0"/>
          </a:p>
        </p:txBody>
      </p:sp>
      <p:sp>
        <p:nvSpPr>
          <p:cNvPr id="16" name="Shape 13"/>
          <p:cNvSpPr/>
          <p:nvPr/>
        </p:nvSpPr>
        <p:spPr>
          <a:xfrm>
            <a:off x="640080" y="3054096"/>
            <a:ext cx="10881360" cy="0"/>
          </a:xfrm>
          <a:prstGeom prst="line">
            <a:avLst/>
          </a:prstGeom>
          <a:noFill/>
          <a:ln w="12700">
            <a:solidFill>
              <a:srgbClr val="D8E2EE"/>
            </a:solidFill>
            <a:prstDash val="solid"/>
          </a:ln>
        </p:spPr>
      </p:sp>
      <p:sp>
        <p:nvSpPr>
          <p:cNvPr id="17" name="Text 14"/>
          <p:cNvSpPr/>
          <p:nvPr/>
        </p:nvSpPr>
        <p:spPr>
          <a:xfrm>
            <a:off x="804672" y="3054096"/>
            <a:ext cx="5193792" cy="475488"/>
          </a:xfrm>
          <a:prstGeom prst="rect">
            <a:avLst/>
          </a:prstGeom>
          <a:noFill/>
          <a:ln/>
        </p:spPr>
        <p:txBody>
          <a:bodyPr wrap="square" lIns="0" tIns="0" rIns="0" bIns="0" rtlCol="0" anchor="ctr"/>
          <a:lstStyle/>
          <a:p>
            <a:pPr algn="l" indent="0" marL="0">
              <a:lnSpc>
                <a:spcPct val="105000"/>
              </a:lnSpc>
              <a:buNone/>
            </a:pPr>
            <a:r>
              <a:rPr lang="en-US" sz="1200" dirty="0">
                <a:solidFill>
                  <a:srgbClr val="0A1226"/>
                </a:solidFill>
                <a:latin typeface="Poppins" pitchFamily="34" charset="0"/>
                <a:ea typeface="Poppins" pitchFamily="34" charset="-122"/>
                <a:cs typeface="Poppins" pitchFamily="34" charset="-120"/>
              </a:rPr>
              <a:t>Consultor Técnico Basis</a:t>
            </a:r>
            <a:endParaRPr lang="en-US" sz="1200" dirty="0"/>
          </a:p>
        </p:txBody>
      </p:sp>
      <p:sp>
        <p:nvSpPr>
          <p:cNvPr id="18" name="Text 15"/>
          <p:cNvSpPr/>
          <p:nvPr/>
        </p:nvSpPr>
        <p:spPr>
          <a:xfrm>
            <a:off x="6291072" y="3054096"/>
            <a:ext cx="2816352" cy="475488"/>
          </a:xfrm>
          <a:prstGeom prst="rect">
            <a:avLst/>
          </a:prstGeom>
          <a:noFill/>
          <a:ln/>
        </p:spPr>
        <p:txBody>
          <a:bodyPr wrap="square" lIns="0" tIns="0" rIns="0" bIns="0" rtlCol="0" anchor="ctr"/>
          <a:lstStyle/>
          <a:p>
            <a:pPr algn="ctr" indent="0" marL="0">
              <a:lnSpc>
                <a:spcPct val="105000"/>
              </a:lnSpc>
              <a:buNone/>
            </a:pPr>
            <a:r>
              <a:rPr lang="en-US" sz="1200" b="1" dirty="0">
                <a:solidFill>
                  <a:srgbClr val="0A1226"/>
                </a:solidFill>
                <a:latin typeface="Poppins" pitchFamily="34" charset="0"/>
                <a:ea typeface="Poppins" pitchFamily="34" charset="-122"/>
                <a:cs typeface="Poppins" pitchFamily="34" charset="-120"/>
              </a:rPr>
              <a:t>USD 5,920</a:t>
            </a:r>
            <a:endParaRPr lang="en-US" sz="1200" dirty="0"/>
          </a:p>
        </p:txBody>
      </p:sp>
      <p:sp>
        <p:nvSpPr>
          <p:cNvPr id="19" name="Text 16"/>
          <p:cNvSpPr/>
          <p:nvPr/>
        </p:nvSpPr>
        <p:spPr>
          <a:xfrm>
            <a:off x="9400032" y="3054096"/>
            <a:ext cx="1993392" cy="475488"/>
          </a:xfrm>
          <a:prstGeom prst="rect">
            <a:avLst/>
          </a:prstGeom>
          <a:noFill/>
          <a:ln/>
        </p:spPr>
        <p:txBody>
          <a:bodyPr wrap="square" lIns="0" tIns="0" rIns="0" bIns="0" rtlCol="0" anchor="ctr"/>
          <a:lstStyle/>
          <a:p>
            <a:pPr algn="ctr" indent="0" marL="0">
              <a:lnSpc>
                <a:spcPct val="105000"/>
              </a:lnSpc>
              <a:buNone/>
            </a:pPr>
            <a:r>
              <a:rPr lang="en-US" sz="1200" b="1" dirty="0">
                <a:solidFill>
                  <a:srgbClr val="0A1226"/>
                </a:solidFill>
                <a:latin typeface="Poppins" pitchFamily="34" charset="0"/>
                <a:ea typeface="Poppins" pitchFamily="34" charset="-122"/>
                <a:cs typeface="Poppins" pitchFamily="34" charset="-120"/>
              </a:rPr>
              <a:t>USD 74</a:t>
            </a:r>
            <a:endParaRPr lang="en-US" sz="1200" dirty="0"/>
          </a:p>
        </p:txBody>
      </p:sp>
      <p:sp>
        <p:nvSpPr>
          <p:cNvPr id="20" name="Shape 17"/>
          <p:cNvSpPr/>
          <p:nvPr/>
        </p:nvSpPr>
        <p:spPr>
          <a:xfrm>
            <a:off x="640080" y="3529584"/>
            <a:ext cx="10881360" cy="0"/>
          </a:xfrm>
          <a:prstGeom prst="line">
            <a:avLst/>
          </a:prstGeom>
          <a:noFill/>
          <a:ln w="12700">
            <a:solidFill>
              <a:srgbClr val="D8E2EE"/>
            </a:solidFill>
            <a:prstDash val="solid"/>
          </a:ln>
        </p:spPr>
      </p:sp>
      <p:sp>
        <p:nvSpPr>
          <p:cNvPr id="21" name="Text 18"/>
          <p:cNvSpPr/>
          <p:nvPr/>
        </p:nvSpPr>
        <p:spPr>
          <a:xfrm>
            <a:off x="804672" y="3529584"/>
            <a:ext cx="5193792" cy="475488"/>
          </a:xfrm>
          <a:prstGeom prst="rect">
            <a:avLst/>
          </a:prstGeom>
          <a:noFill/>
          <a:ln/>
        </p:spPr>
        <p:txBody>
          <a:bodyPr wrap="square" lIns="0" tIns="0" rIns="0" bIns="0" rtlCol="0" anchor="ctr"/>
          <a:lstStyle/>
          <a:p>
            <a:pPr algn="l" indent="0" marL="0">
              <a:lnSpc>
                <a:spcPct val="105000"/>
              </a:lnSpc>
              <a:buNone/>
            </a:pPr>
            <a:r>
              <a:rPr lang="en-US" sz="1200" dirty="0">
                <a:solidFill>
                  <a:srgbClr val="0A1226"/>
                </a:solidFill>
                <a:latin typeface="Poppins" pitchFamily="34" charset="0"/>
                <a:ea typeface="Poppins" pitchFamily="34" charset="-122"/>
                <a:cs typeface="Poppins" pitchFamily="34" charset="-120"/>
              </a:rPr>
              <a:t>Consultor Técnico Seguridad &amp; Roles y Perfiles</a:t>
            </a:r>
            <a:endParaRPr lang="en-US" sz="1200" dirty="0"/>
          </a:p>
        </p:txBody>
      </p:sp>
      <p:sp>
        <p:nvSpPr>
          <p:cNvPr id="22" name="Text 19"/>
          <p:cNvSpPr/>
          <p:nvPr/>
        </p:nvSpPr>
        <p:spPr>
          <a:xfrm>
            <a:off x="6291072" y="3529584"/>
            <a:ext cx="2816352" cy="475488"/>
          </a:xfrm>
          <a:prstGeom prst="rect">
            <a:avLst/>
          </a:prstGeom>
          <a:noFill/>
          <a:ln/>
        </p:spPr>
        <p:txBody>
          <a:bodyPr wrap="square" lIns="0" tIns="0" rIns="0" bIns="0" rtlCol="0" anchor="ctr"/>
          <a:lstStyle/>
          <a:p>
            <a:pPr algn="ctr" indent="0" marL="0">
              <a:lnSpc>
                <a:spcPct val="105000"/>
              </a:lnSpc>
              <a:buNone/>
            </a:pPr>
            <a:r>
              <a:rPr lang="en-US" sz="1200" b="1" dirty="0">
                <a:solidFill>
                  <a:srgbClr val="0A1226"/>
                </a:solidFill>
                <a:latin typeface="Poppins" pitchFamily="34" charset="0"/>
                <a:ea typeface="Poppins" pitchFamily="34" charset="-122"/>
                <a:cs typeface="Poppins" pitchFamily="34" charset="-120"/>
              </a:rPr>
              <a:t>USD 4,960</a:t>
            </a:r>
            <a:endParaRPr lang="en-US" sz="1200" dirty="0"/>
          </a:p>
        </p:txBody>
      </p:sp>
      <p:sp>
        <p:nvSpPr>
          <p:cNvPr id="23" name="Text 20"/>
          <p:cNvSpPr/>
          <p:nvPr/>
        </p:nvSpPr>
        <p:spPr>
          <a:xfrm>
            <a:off x="9400032" y="3529584"/>
            <a:ext cx="1993392" cy="475488"/>
          </a:xfrm>
          <a:prstGeom prst="rect">
            <a:avLst/>
          </a:prstGeom>
          <a:noFill/>
          <a:ln/>
        </p:spPr>
        <p:txBody>
          <a:bodyPr wrap="square" lIns="0" tIns="0" rIns="0" bIns="0" rtlCol="0" anchor="ctr"/>
          <a:lstStyle/>
          <a:p>
            <a:pPr algn="ctr" indent="0" marL="0">
              <a:lnSpc>
                <a:spcPct val="105000"/>
              </a:lnSpc>
              <a:buNone/>
            </a:pPr>
            <a:r>
              <a:rPr lang="en-US" sz="1200" b="1" dirty="0">
                <a:solidFill>
                  <a:srgbClr val="0A1226"/>
                </a:solidFill>
                <a:latin typeface="Poppins" pitchFamily="34" charset="0"/>
                <a:ea typeface="Poppins" pitchFamily="34" charset="-122"/>
                <a:cs typeface="Poppins" pitchFamily="34" charset="-120"/>
              </a:rPr>
              <a:t>USD 62</a:t>
            </a:r>
            <a:endParaRPr lang="en-US" sz="1200" dirty="0"/>
          </a:p>
        </p:txBody>
      </p:sp>
      <p:sp>
        <p:nvSpPr>
          <p:cNvPr id="24" name="Shape 21"/>
          <p:cNvSpPr/>
          <p:nvPr/>
        </p:nvSpPr>
        <p:spPr>
          <a:xfrm>
            <a:off x="640080" y="4005072"/>
            <a:ext cx="10881360" cy="0"/>
          </a:xfrm>
          <a:prstGeom prst="line">
            <a:avLst/>
          </a:prstGeom>
          <a:noFill/>
          <a:ln w="12700">
            <a:solidFill>
              <a:srgbClr val="D8E2EE"/>
            </a:solidFill>
            <a:prstDash val="solid"/>
          </a:ln>
        </p:spPr>
      </p:sp>
      <p:sp>
        <p:nvSpPr>
          <p:cNvPr id="25" name="Text 22"/>
          <p:cNvSpPr/>
          <p:nvPr/>
        </p:nvSpPr>
        <p:spPr>
          <a:xfrm>
            <a:off x="804672" y="4005072"/>
            <a:ext cx="5193792" cy="475488"/>
          </a:xfrm>
          <a:prstGeom prst="rect">
            <a:avLst/>
          </a:prstGeom>
          <a:noFill/>
          <a:ln/>
        </p:spPr>
        <p:txBody>
          <a:bodyPr wrap="square" lIns="0" tIns="0" rIns="0" bIns="0" rtlCol="0" anchor="ctr"/>
          <a:lstStyle/>
          <a:p>
            <a:pPr algn="l" indent="0" marL="0">
              <a:lnSpc>
                <a:spcPct val="105000"/>
              </a:lnSpc>
              <a:buNone/>
            </a:pPr>
            <a:r>
              <a:rPr lang="en-US" sz="1200" dirty="0">
                <a:solidFill>
                  <a:srgbClr val="0A1226"/>
                </a:solidFill>
                <a:latin typeface="Poppins" pitchFamily="34" charset="0"/>
                <a:ea typeface="Poppins" pitchFamily="34" charset="-122"/>
                <a:cs typeface="Poppins" pitchFamily="34" charset="-120"/>
              </a:rPr>
              <a:t>Consultor Técnico ABAP</a:t>
            </a:r>
            <a:endParaRPr lang="en-US" sz="1200" dirty="0"/>
          </a:p>
        </p:txBody>
      </p:sp>
      <p:sp>
        <p:nvSpPr>
          <p:cNvPr id="26" name="Text 23"/>
          <p:cNvSpPr/>
          <p:nvPr/>
        </p:nvSpPr>
        <p:spPr>
          <a:xfrm>
            <a:off x="6291072" y="4005072"/>
            <a:ext cx="2816352" cy="475488"/>
          </a:xfrm>
          <a:prstGeom prst="rect">
            <a:avLst/>
          </a:prstGeom>
          <a:noFill/>
          <a:ln/>
        </p:spPr>
        <p:txBody>
          <a:bodyPr wrap="square" lIns="0" tIns="0" rIns="0" bIns="0" rtlCol="0" anchor="ctr"/>
          <a:lstStyle/>
          <a:p>
            <a:pPr algn="ctr" indent="0" marL="0">
              <a:lnSpc>
                <a:spcPct val="105000"/>
              </a:lnSpc>
              <a:buNone/>
            </a:pPr>
            <a:r>
              <a:rPr lang="en-US" sz="1200" b="1" dirty="0">
                <a:solidFill>
                  <a:srgbClr val="0A1226"/>
                </a:solidFill>
                <a:latin typeface="Poppins" pitchFamily="34" charset="0"/>
                <a:ea typeface="Poppins" pitchFamily="34" charset="-122"/>
                <a:cs typeface="Poppins" pitchFamily="34" charset="-120"/>
              </a:rPr>
              <a:t>USD 5,200</a:t>
            </a:r>
            <a:endParaRPr lang="en-US" sz="1200" dirty="0"/>
          </a:p>
        </p:txBody>
      </p:sp>
      <p:sp>
        <p:nvSpPr>
          <p:cNvPr id="27" name="Text 24"/>
          <p:cNvSpPr/>
          <p:nvPr/>
        </p:nvSpPr>
        <p:spPr>
          <a:xfrm>
            <a:off x="9400032" y="4005072"/>
            <a:ext cx="1993392" cy="475488"/>
          </a:xfrm>
          <a:prstGeom prst="rect">
            <a:avLst/>
          </a:prstGeom>
          <a:noFill/>
          <a:ln/>
        </p:spPr>
        <p:txBody>
          <a:bodyPr wrap="square" lIns="0" tIns="0" rIns="0" bIns="0" rtlCol="0" anchor="ctr"/>
          <a:lstStyle/>
          <a:p>
            <a:pPr algn="ctr" indent="0" marL="0">
              <a:lnSpc>
                <a:spcPct val="105000"/>
              </a:lnSpc>
              <a:buNone/>
            </a:pPr>
            <a:r>
              <a:rPr lang="en-US" sz="1200" b="1" dirty="0">
                <a:solidFill>
                  <a:srgbClr val="0A1226"/>
                </a:solidFill>
                <a:latin typeface="Poppins" pitchFamily="34" charset="0"/>
                <a:ea typeface="Poppins" pitchFamily="34" charset="-122"/>
                <a:cs typeface="Poppins" pitchFamily="34" charset="-120"/>
              </a:rPr>
              <a:t>USD 65</a:t>
            </a:r>
            <a:endParaRPr lang="en-US" sz="1200" dirty="0"/>
          </a:p>
        </p:txBody>
      </p:sp>
      <p:sp>
        <p:nvSpPr>
          <p:cNvPr id="28" name="Shape 25"/>
          <p:cNvSpPr/>
          <p:nvPr/>
        </p:nvSpPr>
        <p:spPr>
          <a:xfrm>
            <a:off x="640080" y="4480560"/>
            <a:ext cx="10881360" cy="0"/>
          </a:xfrm>
          <a:prstGeom prst="line">
            <a:avLst/>
          </a:prstGeom>
          <a:noFill/>
          <a:ln w="12700">
            <a:solidFill>
              <a:srgbClr val="D8E2EE"/>
            </a:solidFill>
            <a:prstDash val="solid"/>
          </a:ln>
        </p:spPr>
      </p:sp>
      <p:sp>
        <p:nvSpPr>
          <p:cNvPr id="29" name="Shape 26"/>
          <p:cNvSpPr/>
          <p:nvPr/>
        </p:nvSpPr>
        <p:spPr>
          <a:xfrm>
            <a:off x="640080" y="4480560"/>
            <a:ext cx="5486400" cy="475488"/>
          </a:xfrm>
          <a:prstGeom prst="rect">
            <a:avLst/>
          </a:prstGeom>
          <a:solidFill>
            <a:srgbClr val="EEF1F6"/>
          </a:solidFill>
          <a:ln/>
        </p:spPr>
      </p:sp>
      <p:sp>
        <p:nvSpPr>
          <p:cNvPr id="30" name="Text 27"/>
          <p:cNvSpPr/>
          <p:nvPr/>
        </p:nvSpPr>
        <p:spPr>
          <a:xfrm>
            <a:off x="804672" y="4480560"/>
            <a:ext cx="5193792" cy="475488"/>
          </a:xfrm>
          <a:prstGeom prst="rect">
            <a:avLst/>
          </a:prstGeom>
          <a:noFill/>
          <a:ln/>
        </p:spPr>
        <p:txBody>
          <a:bodyPr wrap="square" lIns="0" tIns="0" rIns="0" bIns="0" rtlCol="0" anchor="ctr"/>
          <a:lstStyle/>
          <a:p>
            <a:pPr algn="l" indent="0" marL="0">
              <a:lnSpc>
                <a:spcPct val="105000"/>
              </a:lnSpc>
              <a:buNone/>
            </a:pPr>
            <a:r>
              <a:rPr lang="en-US" sz="1200" b="1" dirty="0">
                <a:solidFill>
                  <a:srgbClr val="0A1226"/>
                </a:solidFill>
                <a:latin typeface="Poppins" pitchFamily="34" charset="0"/>
                <a:ea typeface="Poppins" pitchFamily="34" charset="-122"/>
                <a:cs typeface="Poppins" pitchFamily="34" charset="-120"/>
              </a:rPr>
              <a:t>Otros perfiles de consultoría</a:t>
            </a:r>
            <a:endParaRPr lang="en-US" sz="1200" dirty="0"/>
          </a:p>
        </p:txBody>
      </p:sp>
      <p:sp>
        <p:nvSpPr>
          <p:cNvPr id="31" name="Shape 28"/>
          <p:cNvSpPr/>
          <p:nvPr/>
        </p:nvSpPr>
        <p:spPr>
          <a:xfrm>
            <a:off x="6126480" y="4480560"/>
            <a:ext cx="3108960" cy="475488"/>
          </a:xfrm>
          <a:prstGeom prst="rect">
            <a:avLst/>
          </a:prstGeom>
          <a:solidFill>
            <a:srgbClr val="EEF1F6"/>
          </a:solidFill>
          <a:ln/>
        </p:spPr>
      </p:sp>
      <p:sp>
        <p:nvSpPr>
          <p:cNvPr id="32" name="Text 29"/>
          <p:cNvSpPr/>
          <p:nvPr/>
        </p:nvSpPr>
        <p:spPr>
          <a:xfrm>
            <a:off x="6291072" y="4480560"/>
            <a:ext cx="2816352" cy="475488"/>
          </a:xfrm>
          <a:prstGeom prst="rect">
            <a:avLst/>
          </a:prstGeom>
          <a:noFill/>
          <a:ln/>
        </p:spPr>
        <p:txBody>
          <a:bodyPr wrap="square" lIns="0" tIns="0" rIns="0" bIns="0" rtlCol="0" anchor="ctr"/>
          <a:lstStyle/>
          <a:p>
            <a:pPr algn="ctr" indent="0" marL="0">
              <a:lnSpc>
                <a:spcPct val="105000"/>
              </a:lnSpc>
              <a:buNone/>
            </a:pPr>
            <a:r>
              <a:rPr lang="en-US" sz="1200" b="1" dirty="0">
                <a:solidFill>
                  <a:srgbClr val="0A1226"/>
                </a:solidFill>
                <a:latin typeface="Poppins" pitchFamily="34" charset="0"/>
                <a:ea typeface="Poppins" pitchFamily="34" charset="-122"/>
                <a:cs typeface="Poppins" pitchFamily="34" charset="-120"/>
              </a:rPr>
              <a:t>Solicitar cotización</a:t>
            </a:r>
            <a:endParaRPr lang="en-US" sz="1200" dirty="0"/>
          </a:p>
        </p:txBody>
      </p:sp>
      <p:sp>
        <p:nvSpPr>
          <p:cNvPr id="33" name="Shape 30"/>
          <p:cNvSpPr/>
          <p:nvPr/>
        </p:nvSpPr>
        <p:spPr>
          <a:xfrm>
            <a:off x="9235440" y="4480560"/>
            <a:ext cx="2286000" cy="475488"/>
          </a:xfrm>
          <a:prstGeom prst="rect">
            <a:avLst/>
          </a:prstGeom>
          <a:solidFill>
            <a:srgbClr val="EEF1F6"/>
          </a:solidFill>
          <a:ln/>
        </p:spPr>
      </p:sp>
      <p:sp>
        <p:nvSpPr>
          <p:cNvPr id="34" name="Text 31"/>
          <p:cNvSpPr/>
          <p:nvPr/>
        </p:nvSpPr>
        <p:spPr>
          <a:xfrm>
            <a:off x="9400032" y="4480560"/>
            <a:ext cx="1993392" cy="475488"/>
          </a:xfrm>
          <a:prstGeom prst="rect">
            <a:avLst/>
          </a:prstGeom>
          <a:noFill/>
          <a:ln/>
        </p:spPr>
        <p:txBody>
          <a:bodyPr wrap="square" lIns="0" tIns="0" rIns="0" bIns="0" rtlCol="0" anchor="ctr"/>
          <a:lstStyle/>
          <a:p>
            <a:pPr algn="ctr" indent="0" marL="0">
              <a:lnSpc>
                <a:spcPct val="105000"/>
              </a:lnSpc>
              <a:buNone/>
            </a:pPr>
            <a:r>
              <a:rPr lang="en-US" sz="1200" b="1" dirty="0">
                <a:solidFill>
                  <a:srgbClr val="0A1226"/>
                </a:solidFill>
                <a:latin typeface="Poppins" pitchFamily="34" charset="0"/>
                <a:ea typeface="Poppins" pitchFamily="34" charset="-122"/>
                <a:cs typeface="Poppins" pitchFamily="34" charset="-120"/>
              </a:rPr>
              <a:t>Solicitar cotización</a:t>
            </a:r>
            <a:endParaRPr lang="en-US" sz="1200" dirty="0"/>
          </a:p>
        </p:txBody>
      </p:sp>
      <p:sp>
        <p:nvSpPr>
          <p:cNvPr id="35" name="Shape 32"/>
          <p:cNvSpPr/>
          <p:nvPr/>
        </p:nvSpPr>
        <p:spPr>
          <a:xfrm>
            <a:off x="640080" y="4956048"/>
            <a:ext cx="10881360" cy="0"/>
          </a:xfrm>
          <a:prstGeom prst="line">
            <a:avLst/>
          </a:prstGeom>
          <a:noFill/>
          <a:ln w="12700">
            <a:solidFill>
              <a:srgbClr val="D8E2EE"/>
            </a:solidFill>
            <a:prstDash val="solid"/>
          </a:ln>
        </p:spPr>
      </p:sp>
      <p:sp>
        <p:nvSpPr>
          <p:cNvPr id="36" name="Shape 33"/>
          <p:cNvSpPr/>
          <p:nvPr/>
        </p:nvSpPr>
        <p:spPr>
          <a:xfrm>
            <a:off x="685800" y="5349240"/>
            <a:ext cx="73152" cy="73152"/>
          </a:xfrm>
          <a:prstGeom prst="ellipse">
            <a:avLst/>
          </a:prstGeom>
          <a:solidFill>
            <a:srgbClr val="33B4DD"/>
          </a:solidFill>
          <a:ln/>
        </p:spPr>
      </p:sp>
      <p:sp>
        <p:nvSpPr>
          <p:cNvPr id="37" name="Text 34"/>
          <p:cNvSpPr/>
          <p:nvPr/>
        </p:nvSpPr>
        <p:spPr>
          <a:xfrm>
            <a:off x="914400" y="5276088"/>
            <a:ext cx="10332720" cy="365760"/>
          </a:xfrm>
          <a:prstGeom prst="rect">
            <a:avLst/>
          </a:prstGeom>
          <a:noFill/>
          <a:ln/>
        </p:spPr>
        <p:txBody>
          <a:bodyPr wrap="square" lIns="0" tIns="0" rIns="0" bIns="0" rtlCol="0" anchor="ctr"/>
          <a:lstStyle/>
          <a:p>
            <a:pPr indent="0" marL="0">
              <a:buNone/>
            </a:pPr>
            <a:r>
              <a:rPr lang="en-US" sz="1150" dirty="0">
                <a:solidFill>
                  <a:srgbClr val="16223A"/>
                </a:solidFill>
                <a:latin typeface="Poppins" pitchFamily="34" charset="0"/>
                <a:ea typeface="Poppins" pitchFamily="34" charset="-122"/>
                <a:cs typeface="Poppins" pitchFamily="34" charset="-120"/>
              </a:rPr>
              <a:t>Los perfiles no incluidos en esta tabla requieren solicitar cotización.</a:t>
            </a:r>
            <a:endParaRPr lang="en-US" sz="1150" dirty="0"/>
          </a:p>
        </p:txBody>
      </p:sp>
      <p:sp>
        <p:nvSpPr>
          <p:cNvPr id="38" name="Shape 35"/>
          <p:cNvSpPr/>
          <p:nvPr/>
        </p:nvSpPr>
        <p:spPr>
          <a:xfrm>
            <a:off x="685800" y="5733288"/>
            <a:ext cx="73152" cy="73152"/>
          </a:xfrm>
          <a:prstGeom prst="ellipse">
            <a:avLst/>
          </a:prstGeom>
          <a:solidFill>
            <a:srgbClr val="33B4DD"/>
          </a:solidFill>
          <a:ln/>
        </p:spPr>
      </p:sp>
      <p:sp>
        <p:nvSpPr>
          <p:cNvPr id="39" name="Text 36"/>
          <p:cNvSpPr/>
          <p:nvPr/>
        </p:nvSpPr>
        <p:spPr>
          <a:xfrm>
            <a:off x="914400" y="5660136"/>
            <a:ext cx="10332720" cy="365760"/>
          </a:xfrm>
          <a:prstGeom prst="rect">
            <a:avLst/>
          </a:prstGeom>
          <a:noFill/>
          <a:ln/>
        </p:spPr>
        <p:txBody>
          <a:bodyPr wrap="square" lIns="0" tIns="0" rIns="0" bIns="0" rtlCol="0" anchor="ctr"/>
          <a:lstStyle/>
          <a:p>
            <a:pPr indent="0" marL="0">
              <a:buNone/>
            </a:pPr>
            <a:r>
              <a:rPr lang="en-US" sz="1150" dirty="0">
                <a:solidFill>
                  <a:srgbClr val="16223A"/>
                </a:solidFill>
                <a:latin typeface="Poppins" pitchFamily="34" charset="0"/>
                <a:ea typeface="Poppins" pitchFamily="34" charset="-122"/>
                <a:cs typeface="Poppins" pitchFamily="34" charset="-120"/>
              </a:rPr>
              <a:t>Los servicios se facturan mensualmente; el cliente debe emitir la orden de compra por el total de HH contratadas por mes.</a:t>
            </a:r>
            <a:endParaRPr lang="en-US" sz="1150" dirty="0"/>
          </a:p>
        </p:txBody>
      </p:sp>
      <p:sp>
        <p:nvSpPr>
          <p:cNvPr id="40" name="Text 37"/>
          <p:cNvSpPr/>
          <p:nvPr/>
        </p:nvSpPr>
        <p:spPr>
          <a:xfrm>
            <a:off x="640080" y="6181344"/>
            <a:ext cx="10881360" cy="320040"/>
          </a:xfrm>
          <a:prstGeom prst="rect">
            <a:avLst/>
          </a:prstGeom>
          <a:noFill/>
          <a:ln/>
        </p:spPr>
        <p:txBody>
          <a:bodyPr wrap="square" lIns="0" tIns="0" rIns="0" bIns="0" rtlCol="0" anchor="ctr"/>
          <a:lstStyle/>
          <a:p>
            <a:pPr indent="0" marL="0">
              <a:buNone/>
            </a:pPr>
            <a:r>
              <a:rPr lang="en-US" sz="1050" i="1" dirty="0">
                <a:solidFill>
                  <a:srgbClr val="5E6B82"/>
                </a:solidFill>
                <a:latin typeface="Poppins" pitchFamily="34" charset="0"/>
                <a:ea typeface="Poppins" pitchFamily="34" charset="-122"/>
                <a:cs typeface="Poppins" pitchFamily="34" charset="-120"/>
              </a:rPr>
              <a:t>(*) Se presentan valores netos, más el IVA aplicable conforme a la legislación fiscal vigente en México.</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lIns="0" tIns="0" rIns="0" bIns="0" rtlCol="0" anchor="ctr"/>
          <a:lstStyle/>
          <a:p>
            <a:pPr indent="0" marL="0">
              <a:buNone/>
            </a:pPr>
            <a:r>
              <a:rPr lang="en-US" sz="1250" b="1" spc="200" kern="0" dirty="0">
                <a:solidFill>
                  <a:srgbClr val="33B4DD"/>
                </a:solidFill>
                <a:latin typeface="Poppins" pitchFamily="34" charset="0"/>
                <a:ea typeface="Poppins" pitchFamily="34" charset="-122"/>
                <a:cs typeface="Poppins" pitchFamily="34" charset="-120"/>
              </a:rPr>
              <a:t>CONDICIONES GENERALES</a:t>
            </a:r>
            <a:endParaRPr lang="en-US" sz="1250" dirty="0"/>
          </a:p>
        </p:txBody>
      </p:sp>
      <p:sp>
        <p:nvSpPr>
          <p:cNvPr id="3" name="Text 1"/>
          <p:cNvSpPr/>
          <p:nvPr/>
        </p:nvSpPr>
        <p:spPr>
          <a:xfrm>
            <a:off x="640080" y="749808"/>
            <a:ext cx="10881360" cy="640080"/>
          </a:xfrm>
          <a:prstGeom prst="rect">
            <a:avLst/>
          </a:prstGeom>
          <a:noFill/>
          <a:ln/>
        </p:spPr>
        <p:txBody>
          <a:bodyPr wrap="square" lIns="0" tIns="0" rIns="0" bIns="0" rtlCol="0" anchor="ctr"/>
          <a:lstStyle/>
          <a:p>
            <a:pPr indent="0" marL="0">
              <a:buNone/>
            </a:pPr>
            <a:r>
              <a:rPr lang="en-US" sz="2800" b="1" dirty="0">
                <a:solidFill>
                  <a:srgbClr val="0A1226"/>
                </a:solidFill>
                <a:latin typeface="Poppins" pitchFamily="34" charset="0"/>
                <a:ea typeface="Poppins" pitchFamily="34" charset="-122"/>
                <a:cs typeface="Poppins" pitchFamily="34" charset="-120"/>
              </a:rPr>
              <a:t>Términos y Condiciones del Servicio</a:t>
            </a:r>
            <a:endParaRPr lang="en-US" sz="2800" dirty="0"/>
          </a:p>
        </p:txBody>
      </p:sp>
      <p:pic>
        <p:nvPicPr>
          <p:cNvPr id="4" name="Image 0" descr="/home/claude/deck/assets/logo_light.png">    </p:cNvPr>
          <p:cNvPicPr>
            <a:picLocks noChangeAspect="1"/>
          </p:cNvPicPr>
          <p:nvPr/>
        </p:nvPicPr>
        <p:blipFill>
          <a:blip r:embed="rId2"/>
          <a:stretch>
            <a:fillRect/>
          </a:stretch>
        </p:blipFill>
        <p:spPr>
          <a:xfrm>
            <a:off x="10058400" y="502920"/>
            <a:ext cx="1417320" cy="577877"/>
          </a:xfrm>
          <a:prstGeom prst="rect">
            <a:avLst/>
          </a:prstGeom>
        </p:spPr>
      </p:pic>
      <p:sp>
        <p:nvSpPr>
          <p:cNvPr id="5" name="Text 2"/>
          <p:cNvSpPr/>
          <p:nvPr/>
        </p:nvSpPr>
        <p:spPr>
          <a:xfrm>
            <a:off x="11368735" y="6400800"/>
            <a:ext cx="457200" cy="274320"/>
          </a:xfrm>
          <a:prstGeom prst="rect">
            <a:avLst/>
          </a:prstGeom>
          <a:noFill/>
          <a:ln/>
        </p:spPr>
        <p:txBody>
          <a:bodyPr wrap="square" rtlCol="0" anchor="ctr"/>
          <a:lstStyle/>
          <a:p>
            <a:pPr algn="r" indent="0" marL="0">
              <a:buNone/>
            </a:pPr>
            <a:r>
              <a:rPr lang="en-US" sz="1000" dirty="0">
                <a:solidFill>
                  <a:srgbClr val="8A97AC"/>
                </a:solidFill>
                <a:latin typeface="Poppins" pitchFamily="34" charset="0"/>
                <a:ea typeface="Poppins" pitchFamily="34" charset="-122"/>
                <a:cs typeface="Poppins" pitchFamily="34" charset="-120"/>
              </a:rPr>
              <a:t>07</a:t>
            </a:r>
            <a:endParaRPr lang="en-US" sz="1000" dirty="0"/>
          </a:p>
        </p:txBody>
      </p:sp>
      <p:sp>
        <p:nvSpPr>
          <p:cNvPr id="6" name="Shape 3"/>
          <p:cNvSpPr/>
          <p:nvPr/>
        </p:nvSpPr>
        <p:spPr>
          <a:xfrm>
            <a:off x="685800" y="1682496"/>
            <a:ext cx="91440" cy="91440"/>
          </a:xfrm>
          <a:prstGeom prst="ellipse">
            <a:avLst/>
          </a:prstGeom>
          <a:solidFill>
            <a:srgbClr val="33B4DD"/>
          </a:solidFill>
          <a:ln/>
        </p:spPr>
      </p:sp>
      <p:sp>
        <p:nvSpPr>
          <p:cNvPr id="7" name="Text 4"/>
          <p:cNvSpPr/>
          <p:nvPr/>
        </p:nvSpPr>
        <p:spPr>
          <a:xfrm>
            <a:off x="960120" y="1600200"/>
            <a:ext cx="10332720" cy="347472"/>
          </a:xfrm>
          <a:prstGeom prst="rect">
            <a:avLst/>
          </a:prstGeom>
          <a:noFill/>
          <a:ln/>
        </p:spPr>
        <p:txBody>
          <a:bodyPr wrap="square" lIns="0" tIns="0" rIns="0" bIns="0" rtlCol="0" anchor="ctr"/>
          <a:lstStyle/>
          <a:p>
            <a:pPr indent="0" marL="0">
              <a:lnSpc>
                <a:spcPct val="115000"/>
              </a:lnSpc>
              <a:buNone/>
            </a:pPr>
            <a:r>
              <a:rPr lang="en-US" sz="1250" dirty="0">
                <a:solidFill>
                  <a:srgbClr val="16223A"/>
                </a:solidFill>
                <a:latin typeface="Poppins" pitchFamily="34" charset="0"/>
                <a:ea typeface="Poppins" pitchFamily="34" charset="-122"/>
                <a:cs typeface="Poppins" pitchFamily="34" charset="-120"/>
              </a:rPr>
              <a:t>Jornada de 8 horas diarias; horario hábil de lunes a viernes, de 9:00 a 18:00 hrs.</a:t>
            </a:r>
            <a:endParaRPr lang="en-US" sz="1250" dirty="0"/>
          </a:p>
        </p:txBody>
      </p:sp>
      <p:sp>
        <p:nvSpPr>
          <p:cNvPr id="8" name="Shape 5"/>
          <p:cNvSpPr/>
          <p:nvPr/>
        </p:nvSpPr>
        <p:spPr>
          <a:xfrm>
            <a:off x="685800" y="2093976"/>
            <a:ext cx="91440" cy="91440"/>
          </a:xfrm>
          <a:prstGeom prst="ellipse">
            <a:avLst/>
          </a:prstGeom>
          <a:solidFill>
            <a:srgbClr val="33B4DD"/>
          </a:solidFill>
          <a:ln/>
        </p:spPr>
      </p:sp>
      <p:sp>
        <p:nvSpPr>
          <p:cNvPr id="9" name="Text 6"/>
          <p:cNvSpPr/>
          <p:nvPr/>
        </p:nvSpPr>
        <p:spPr>
          <a:xfrm>
            <a:off x="960120" y="2011680"/>
            <a:ext cx="10332720" cy="347472"/>
          </a:xfrm>
          <a:prstGeom prst="rect">
            <a:avLst/>
          </a:prstGeom>
          <a:noFill/>
          <a:ln/>
        </p:spPr>
        <p:txBody>
          <a:bodyPr wrap="square" lIns="0" tIns="0" rIns="0" bIns="0" rtlCol="0" anchor="ctr"/>
          <a:lstStyle/>
          <a:p>
            <a:pPr indent="0" marL="0">
              <a:lnSpc>
                <a:spcPct val="115000"/>
              </a:lnSpc>
              <a:buNone/>
            </a:pPr>
            <a:r>
              <a:rPr lang="en-US" sz="1250" dirty="0">
                <a:solidFill>
                  <a:srgbClr val="16223A"/>
                </a:solidFill>
                <a:latin typeface="Poppins" pitchFamily="34" charset="0"/>
                <a:ea typeface="Poppins" pitchFamily="34" charset="-122"/>
                <a:cs typeface="Poppins" pitchFamily="34" charset="-120"/>
              </a:rPr>
              <a:t>Los servicios de SEIDOR son en USD; los precios indicados son netos, se debe agregar el IVA.</a:t>
            </a:r>
            <a:endParaRPr lang="en-US" sz="1250" dirty="0"/>
          </a:p>
        </p:txBody>
      </p:sp>
      <p:sp>
        <p:nvSpPr>
          <p:cNvPr id="10" name="Shape 7"/>
          <p:cNvSpPr/>
          <p:nvPr/>
        </p:nvSpPr>
        <p:spPr>
          <a:xfrm>
            <a:off x="685800" y="2505456"/>
            <a:ext cx="91440" cy="91440"/>
          </a:xfrm>
          <a:prstGeom prst="ellipse">
            <a:avLst/>
          </a:prstGeom>
          <a:solidFill>
            <a:srgbClr val="33B4DD"/>
          </a:solidFill>
          <a:ln/>
        </p:spPr>
      </p:sp>
      <p:sp>
        <p:nvSpPr>
          <p:cNvPr id="11" name="Text 8"/>
          <p:cNvSpPr/>
          <p:nvPr/>
        </p:nvSpPr>
        <p:spPr>
          <a:xfrm>
            <a:off x="960120" y="2423160"/>
            <a:ext cx="10332720" cy="320040"/>
          </a:xfrm>
          <a:prstGeom prst="rect">
            <a:avLst/>
          </a:prstGeom>
          <a:noFill/>
          <a:ln/>
        </p:spPr>
        <p:txBody>
          <a:bodyPr wrap="square" lIns="0" tIns="0" rIns="0" bIns="0" rtlCol="0" anchor="ctr"/>
          <a:lstStyle/>
          <a:p>
            <a:pPr indent="0" marL="0">
              <a:lnSpc>
                <a:spcPct val="115000"/>
              </a:lnSpc>
              <a:buNone/>
            </a:pPr>
            <a:r>
              <a:rPr lang="en-US" sz="1250" dirty="0">
                <a:solidFill>
                  <a:srgbClr val="16223A"/>
                </a:solidFill>
                <a:latin typeface="Poppins" pitchFamily="34" charset="0"/>
                <a:ea typeface="Poppins" pitchFamily="34" charset="-122"/>
                <a:cs typeface="Poppins" pitchFamily="34" charset="-120"/>
              </a:rPr>
              <a:t>Los servicios se prestarán en modalidad remota.</a:t>
            </a:r>
            <a:endParaRPr lang="en-US" sz="1250" dirty="0"/>
          </a:p>
        </p:txBody>
      </p:sp>
      <p:sp>
        <p:nvSpPr>
          <p:cNvPr id="12" name="Shape 9"/>
          <p:cNvSpPr/>
          <p:nvPr/>
        </p:nvSpPr>
        <p:spPr>
          <a:xfrm>
            <a:off x="685800" y="2871216"/>
            <a:ext cx="91440" cy="91440"/>
          </a:xfrm>
          <a:prstGeom prst="ellipse">
            <a:avLst/>
          </a:prstGeom>
          <a:solidFill>
            <a:srgbClr val="33B4DD"/>
          </a:solidFill>
          <a:ln/>
        </p:spPr>
      </p:sp>
      <p:sp>
        <p:nvSpPr>
          <p:cNvPr id="13" name="Text 10"/>
          <p:cNvSpPr/>
          <p:nvPr/>
        </p:nvSpPr>
        <p:spPr>
          <a:xfrm>
            <a:off x="960120" y="2788920"/>
            <a:ext cx="10332720" cy="868680"/>
          </a:xfrm>
          <a:prstGeom prst="rect">
            <a:avLst/>
          </a:prstGeom>
          <a:noFill/>
          <a:ln/>
        </p:spPr>
        <p:txBody>
          <a:bodyPr wrap="square" lIns="0" tIns="0" rIns="0" bIns="0" rtlCol="0" anchor="ctr"/>
          <a:lstStyle/>
          <a:p>
            <a:pPr indent="0" marL="0">
              <a:lnSpc>
                <a:spcPct val="115000"/>
              </a:lnSpc>
              <a:buNone/>
            </a:pPr>
            <a:r>
              <a:rPr lang="en-US" sz="1250" b="1" dirty="0">
                <a:solidFill>
                  <a:srgbClr val="16223A"/>
                </a:solidFill>
                <a:latin typeface="Poppins" pitchFamily="34" charset="0"/>
                <a:ea typeface="Poppins" pitchFamily="34" charset="-122"/>
                <a:cs typeface="Poppins" pitchFamily="34" charset="-120"/>
              </a:rPr>
              <a:t>El servicio es en modalidad Time &amp; Material: SEIDOR provee la capacidad de consultoría contratada y el cliente es responsable de definir, priorizar y controlar en qué se utilizan los recursos. No incluye compromiso de alcance, entregables ni plazos de proyecto.</a:t>
            </a:r>
            <a:endParaRPr lang="en-US" sz="1250" dirty="0"/>
          </a:p>
        </p:txBody>
      </p:sp>
      <p:sp>
        <p:nvSpPr>
          <p:cNvPr id="14" name="Shape 11"/>
          <p:cNvSpPr/>
          <p:nvPr/>
        </p:nvSpPr>
        <p:spPr>
          <a:xfrm>
            <a:off x="685800" y="3831336"/>
            <a:ext cx="91440" cy="91440"/>
          </a:xfrm>
          <a:prstGeom prst="ellipse">
            <a:avLst/>
          </a:prstGeom>
          <a:solidFill>
            <a:srgbClr val="33B4DD"/>
          </a:solidFill>
          <a:ln/>
        </p:spPr>
      </p:sp>
      <p:sp>
        <p:nvSpPr>
          <p:cNvPr id="15" name="Text 12"/>
          <p:cNvSpPr/>
          <p:nvPr/>
        </p:nvSpPr>
        <p:spPr>
          <a:xfrm>
            <a:off x="960120" y="3749040"/>
            <a:ext cx="10332720" cy="502920"/>
          </a:xfrm>
          <a:prstGeom prst="rect">
            <a:avLst/>
          </a:prstGeom>
          <a:noFill/>
          <a:ln/>
        </p:spPr>
        <p:txBody>
          <a:bodyPr wrap="square" lIns="0" tIns="0" rIns="0" bIns="0" rtlCol="0" anchor="ctr"/>
          <a:lstStyle/>
          <a:p>
            <a:pPr indent="0" marL="0">
              <a:lnSpc>
                <a:spcPct val="115000"/>
              </a:lnSpc>
              <a:buNone/>
            </a:pPr>
            <a:r>
              <a:rPr lang="en-US" sz="1250" dirty="0">
                <a:solidFill>
                  <a:srgbClr val="16223A"/>
                </a:solidFill>
                <a:latin typeface="Poppins" pitchFamily="34" charset="0"/>
                <a:ea typeface="Poppins" pitchFamily="34" charset="-122"/>
                <a:cs typeface="Poppins" pitchFamily="34" charset="-120"/>
              </a:rPr>
              <a:t>El servicio se activa con la emisión de la orden de compra por parte del cliente, por el total de horas mensuales contratadas.</a:t>
            </a:r>
            <a:endParaRPr lang="en-US" sz="1250" dirty="0"/>
          </a:p>
        </p:txBody>
      </p:sp>
      <p:sp>
        <p:nvSpPr>
          <p:cNvPr id="16" name="Shape 13"/>
          <p:cNvSpPr/>
          <p:nvPr/>
        </p:nvSpPr>
        <p:spPr>
          <a:xfrm>
            <a:off x="685800" y="4379976"/>
            <a:ext cx="91440" cy="91440"/>
          </a:xfrm>
          <a:prstGeom prst="ellipse">
            <a:avLst/>
          </a:prstGeom>
          <a:solidFill>
            <a:srgbClr val="33B4DD"/>
          </a:solidFill>
          <a:ln/>
        </p:spPr>
      </p:sp>
      <p:sp>
        <p:nvSpPr>
          <p:cNvPr id="17" name="Text 14"/>
          <p:cNvSpPr/>
          <p:nvPr/>
        </p:nvSpPr>
        <p:spPr>
          <a:xfrm>
            <a:off x="960120" y="4297680"/>
            <a:ext cx="10332720" cy="502920"/>
          </a:xfrm>
          <a:prstGeom prst="rect">
            <a:avLst/>
          </a:prstGeom>
          <a:noFill/>
          <a:ln/>
        </p:spPr>
        <p:txBody>
          <a:bodyPr wrap="square" lIns="0" tIns="0" rIns="0" bIns="0" rtlCol="0" anchor="ctr"/>
          <a:lstStyle/>
          <a:p>
            <a:pPr indent="0" marL="0">
              <a:lnSpc>
                <a:spcPct val="115000"/>
              </a:lnSpc>
              <a:buNone/>
            </a:pPr>
            <a:r>
              <a:rPr lang="en-US" sz="1250" b="1" dirty="0">
                <a:solidFill>
                  <a:srgbClr val="16223A"/>
                </a:solidFill>
                <a:latin typeface="Poppins" pitchFamily="34" charset="0"/>
                <a:ea typeface="Poppins" pitchFamily="34" charset="-122"/>
                <a:cs typeface="Poppins" pitchFamily="34" charset="-120"/>
              </a:rPr>
              <a:t>La asignación del recurso se realiza en un plazo de hasta 15 días (2 semanas) a contar de la aprobación de la propuesta.</a:t>
            </a:r>
            <a:endParaRPr lang="en-US" sz="1250" dirty="0"/>
          </a:p>
        </p:txBody>
      </p:sp>
      <p:sp>
        <p:nvSpPr>
          <p:cNvPr id="18" name="Shape 15"/>
          <p:cNvSpPr/>
          <p:nvPr/>
        </p:nvSpPr>
        <p:spPr>
          <a:xfrm>
            <a:off x="685800" y="4928616"/>
            <a:ext cx="91440" cy="91440"/>
          </a:xfrm>
          <a:prstGeom prst="ellipse">
            <a:avLst/>
          </a:prstGeom>
          <a:solidFill>
            <a:srgbClr val="33B4DD"/>
          </a:solidFill>
          <a:ln/>
        </p:spPr>
      </p:sp>
      <p:sp>
        <p:nvSpPr>
          <p:cNvPr id="19" name="Text 16"/>
          <p:cNvSpPr/>
          <p:nvPr/>
        </p:nvSpPr>
        <p:spPr>
          <a:xfrm>
            <a:off x="960120" y="4846320"/>
            <a:ext cx="10332720" cy="320040"/>
          </a:xfrm>
          <a:prstGeom prst="rect">
            <a:avLst/>
          </a:prstGeom>
          <a:noFill/>
          <a:ln/>
        </p:spPr>
        <p:txBody>
          <a:bodyPr wrap="square" lIns="0" tIns="0" rIns="0" bIns="0" rtlCol="0" anchor="ctr"/>
          <a:lstStyle/>
          <a:p>
            <a:pPr indent="0" marL="0">
              <a:lnSpc>
                <a:spcPct val="115000"/>
              </a:lnSpc>
              <a:buNone/>
            </a:pPr>
            <a:r>
              <a:rPr lang="en-US" sz="1250" dirty="0">
                <a:solidFill>
                  <a:srgbClr val="16223A"/>
                </a:solidFill>
                <a:latin typeface="Poppins" pitchFamily="34" charset="0"/>
                <a:ea typeface="Poppins" pitchFamily="34" charset="-122"/>
                <a:cs typeface="Poppins" pitchFamily="34" charset="-120"/>
              </a:rPr>
              <a:t>La facturación del servicio es mensual.</a:t>
            </a:r>
            <a:endParaRPr lang="en-US" sz="1250" dirty="0"/>
          </a:p>
        </p:txBody>
      </p:sp>
      <p:sp>
        <p:nvSpPr>
          <p:cNvPr id="20" name="Shape 17"/>
          <p:cNvSpPr/>
          <p:nvPr/>
        </p:nvSpPr>
        <p:spPr>
          <a:xfrm>
            <a:off x="685800" y="5294376"/>
            <a:ext cx="91440" cy="91440"/>
          </a:xfrm>
          <a:prstGeom prst="ellipse">
            <a:avLst/>
          </a:prstGeom>
          <a:solidFill>
            <a:srgbClr val="33B4DD"/>
          </a:solidFill>
          <a:ln/>
        </p:spPr>
      </p:sp>
      <p:sp>
        <p:nvSpPr>
          <p:cNvPr id="21" name="Text 18"/>
          <p:cNvSpPr/>
          <p:nvPr/>
        </p:nvSpPr>
        <p:spPr>
          <a:xfrm>
            <a:off x="960120" y="5212080"/>
            <a:ext cx="10332720" cy="777240"/>
          </a:xfrm>
          <a:prstGeom prst="rect">
            <a:avLst/>
          </a:prstGeom>
          <a:noFill/>
          <a:ln/>
        </p:spPr>
        <p:txBody>
          <a:bodyPr wrap="square" lIns="0" tIns="0" rIns="0" bIns="0" rtlCol="0" anchor="ctr"/>
          <a:lstStyle/>
          <a:p>
            <a:pPr indent="0" marL="0">
              <a:lnSpc>
                <a:spcPct val="115000"/>
              </a:lnSpc>
              <a:buNone/>
            </a:pPr>
            <a:r>
              <a:rPr lang="en-US" sz="1250" dirty="0">
                <a:solidFill>
                  <a:srgbClr val="16223A"/>
                </a:solidFill>
                <a:latin typeface="Poppins" pitchFamily="34" charset="0"/>
                <a:ea typeface="Poppins" pitchFamily="34" charset="-122"/>
                <a:cs typeface="Poppins" pitchFamily="34" charset="-120"/>
              </a:rPr>
              <a:t>No se consideran trabajos fuera de horario, fines de semana o festivos. De requerirse, deberán solicitarse con 1 semana de anticipación, con un recargo del 50% sobre la tarifa base.</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lIns="0" tIns="0" rIns="0" bIns="0" rtlCol="0" anchor="ctr"/>
          <a:lstStyle/>
          <a:p>
            <a:pPr indent="0" marL="0">
              <a:buNone/>
            </a:pPr>
            <a:r>
              <a:rPr lang="en-US" sz="1250" b="1" spc="200" kern="0" dirty="0">
                <a:solidFill>
                  <a:srgbClr val="33B4DD"/>
                </a:solidFill>
                <a:latin typeface="Poppins" pitchFamily="34" charset="0"/>
                <a:ea typeface="Poppins" pitchFamily="34" charset="-122"/>
                <a:cs typeface="Poppins" pitchFamily="34" charset="-120"/>
              </a:rPr>
              <a:t>NOTAS COMERCIALES</a:t>
            </a:r>
            <a:endParaRPr lang="en-US" sz="1250" dirty="0"/>
          </a:p>
        </p:txBody>
      </p:sp>
      <p:sp>
        <p:nvSpPr>
          <p:cNvPr id="3" name="Text 1"/>
          <p:cNvSpPr/>
          <p:nvPr/>
        </p:nvSpPr>
        <p:spPr>
          <a:xfrm>
            <a:off x="640080" y="749808"/>
            <a:ext cx="10881360" cy="640080"/>
          </a:xfrm>
          <a:prstGeom prst="rect">
            <a:avLst/>
          </a:prstGeom>
          <a:noFill/>
          <a:ln/>
        </p:spPr>
        <p:txBody>
          <a:bodyPr wrap="square" lIns="0" tIns="0" rIns="0" bIns="0" rtlCol="0" anchor="ctr"/>
          <a:lstStyle/>
          <a:p>
            <a:pPr indent="0" marL="0">
              <a:buNone/>
            </a:pPr>
            <a:r>
              <a:rPr lang="en-US" sz="2800" b="1" dirty="0">
                <a:solidFill>
                  <a:srgbClr val="0A1226"/>
                </a:solidFill>
                <a:latin typeface="Poppins" pitchFamily="34" charset="0"/>
                <a:ea typeface="Poppins" pitchFamily="34" charset="-122"/>
                <a:cs typeface="Poppins" pitchFamily="34" charset="-120"/>
              </a:rPr>
              <a:t>Notas Comerciales Generales</a:t>
            </a:r>
            <a:endParaRPr lang="en-US" sz="2800" dirty="0"/>
          </a:p>
        </p:txBody>
      </p:sp>
      <p:pic>
        <p:nvPicPr>
          <p:cNvPr id="4" name="Image 0" descr="/home/claude/deck/assets/logo_light.png">    </p:cNvPr>
          <p:cNvPicPr>
            <a:picLocks noChangeAspect="1"/>
          </p:cNvPicPr>
          <p:nvPr/>
        </p:nvPicPr>
        <p:blipFill>
          <a:blip r:embed="rId2"/>
          <a:stretch>
            <a:fillRect/>
          </a:stretch>
        </p:blipFill>
        <p:spPr>
          <a:xfrm>
            <a:off x="10058400" y="502920"/>
            <a:ext cx="1417320" cy="577877"/>
          </a:xfrm>
          <a:prstGeom prst="rect">
            <a:avLst/>
          </a:prstGeom>
        </p:spPr>
      </p:pic>
      <p:sp>
        <p:nvSpPr>
          <p:cNvPr id="5" name="Text 2"/>
          <p:cNvSpPr/>
          <p:nvPr/>
        </p:nvSpPr>
        <p:spPr>
          <a:xfrm>
            <a:off x="11368735" y="6400800"/>
            <a:ext cx="457200" cy="274320"/>
          </a:xfrm>
          <a:prstGeom prst="rect">
            <a:avLst/>
          </a:prstGeom>
          <a:noFill/>
          <a:ln/>
        </p:spPr>
        <p:txBody>
          <a:bodyPr wrap="square" rtlCol="0" anchor="ctr"/>
          <a:lstStyle/>
          <a:p>
            <a:pPr algn="r" indent="0" marL="0">
              <a:buNone/>
            </a:pPr>
            <a:r>
              <a:rPr lang="en-US" sz="1000" dirty="0">
                <a:solidFill>
                  <a:srgbClr val="8A97AC"/>
                </a:solidFill>
                <a:latin typeface="Poppins" pitchFamily="34" charset="0"/>
                <a:ea typeface="Poppins" pitchFamily="34" charset="-122"/>
                <a:cs typeface="Poppins" pitchFamily="34" charset="-120"/>
              </a:rPr>
              <a:t>08</a:t>
            </a:r>
            <a:endParaRPr lang="en-US" sz="1000" dirty="0"/>
          </a:p>
        </p:txBody>
      </p:sp>
      <p:sp>
        <p:nvSpPr>
          <p:cNvPr id="6" name="Text 3"/>
          <p:cNvSpPr/>
          <p:nvPr/>
        </p:nvSpPr>
        <p:spPr>
          <a:xfrm>
            <a:off x="640080" y="1600200"/>
            <a:ext cx="5257800" cy="365760"/>
          </a:xfrm>
          <a:prstGeom prst="rect">
            <a:avLst/>
          </a:prstGeom>
          <a:noFill/>
          <a:ln/>
        </p:spPr>
        <p:txBody>
          <a:bodyPr wrap="square" lIns="0" tIns="0" rIns="0" bIns="0" rtlCol="0" anchor="ctr"/>
          <a:lstStyle/>
          <a:p>
            <a:pPr indent="0" marL="0">
              <a:buNone/>
            </a:pPr>
            <a:r>
              <a:rPr lang="en-US" sz="1350" b="1" dirty="0">
                <a:solidFill>
                  <a:srgbClr val="1E5BB8"/>
                </a:solidFill>
                <a:latin typeface="Poppins" pitchFamily="34" charset="0"/>
                <a:ea typeface="Poppins" pitchFamily="34" charset="-122"/>
                <a:cs typeface="Poppins" pitchFamily="34" charset="-120"/>
              </a:rPr>
              <a:t>Precio y Gastos de los Servicios</a:t>
            </a:r>
            <a:endParaRPr lang="en-US" sz="1350" dirty="0"/>
          </a:p>
        </p:txBody>
      </p:sp>
      <p:sp>
        <p:nvSpPr>
          <p:cNvPr id="7" name="Text 4"/>
          <p:cNvSpPr/>
          <p:nvPr/>
        </p:nvSpPr>
        <p:spPr>
          <a:xfrm>
            <a:off x="640080" y="2011680"/>
            <a:ext cx="5257800" cy="1737360"/>
          </a:xfrm>
          <a:prstGeom prst="rect">
            <a:avLst/>
          </a:prstGeom>
          <a:noFill/>
          <a:ln/>
        </p:spPr>
        <p:txBody>
          <a:bodyPr wrap="square" lIns="0" tIns="0" rIns="0" bIns="0" rtlCol="0" anchor="ctr"/>
          <a:lstStyle/>
          <a:p>
            <a:pPr indent="0" marL="0">
              <a:lnSpc>
                <a:spcPct val="120000"/>
              </a:lnSpc>
              <a:buNone/>
            </a:pPr>
            <a:r>
              <a:rPr lang="en-US" sz="1100" dirty="0">
                <a:solidFill>
                  <a:srgbClr val="16223A"/>
                </a:solidFill>
                <a:latin typeface="Poppins" pitchFamily="34" charset="0"/>
                <a:ea typeface="Poppins" pitchFamily="34" charset="-122"/>
                <a:cs typeface="Poppins" pitchFamily="34" charset="-120"/>
              </a:rPr>
              <a:t>El precio corresponde a las HH asociadas a los consultores que participen y se factura conforme al calendario acordado entre las partes. Los gastos de viáticos y desplazamiento, de aplicar, serán razonables, previamente acordados y cubiertos por el cliente.</a:t>
            </a:r>
            <a:endParaRPr lang="en-US" sz="1100" dirty="0"/>
          </a:p>
        </p:txBody>
      </p:sp>
      <p:sp>
        <p:nvSpPr>
          <p:cNvPr id="8" name="Text 5"/>
          <p:cNvSpPr/>
          <p:nvPr/>
        </p:nvSpPr>
        <p:spPr>
          <a:xfrm>
            <a:off x="6309360" y="1600200"/>
            <a:ext cx="5257800" cy="365760"/>
          </a:xfrm>
          <a:prstGeom prst="rect">
            <a:avLst/>
          </a:prstGeom>
          <a:noFill/>
          <a:ln/>
        </p:spPr>
        <p:txBody>
          <a:bodyPr wrap="square" lIns="0" tIns="0" rIns="0" bIns="0" rtlCol="0" anchor="ctr"/>
          <a:lstStyle/>
          <a:p>
            <a:pPr indent="0" marL="0">
              <a:buNone/>
            </a:pPr>
            <a:r>
              <a:rPr lang="en-US" sz="1350" b="1" dirty="0">
                <a:solidFill>
                  <a:srgbClr val="1E5BB8"/>
                </a:solidFill>
                <a:latin typeface="Poppins" pitchFamily="34" charset="0"/>
                <a:ea typeface="Poppins" pitchFamily="34" charset="-122"/>
                <a:cs typeface="Poppins" pitchFamily="34" charset="-120"/>
              </a:rPr>
              <a:t>Cambios de Alcance</a:t>
            </a:r>
            <a:endParaRPr lang="en-US" sz="1350" dirty="0"/>
          </a:p>
        </p:txBody>
      </p:sp>
      <p:sp>
        <p:nvSpPr>
          <p:cNvPr id="9" name="Text 6"/>
          <p:cNvSpPr/>
          <p:nvPr/>
        </p:nvSpPr>
        <p:spPr>
          <a:xfrm>
            <a:off x="6309360" y="2011680"/>
            <a:ext cx="5257800" cy="1737360"/>
          </a:xfrm>
          <a:prstGeom prst="rect">
            <a:avLst/>
          </a:prstGeom>
          <a:noFill/>
          <a:ln/>
        </p:spPr>
        <p:txBody>
          <a:bodyPr wrap="square" lIns="0" tIns="0" rIns="0" bIns="0" rtlCol="0" anchor="ctr"/>
          <a:lstStyle/>
          <a:p>
            <a:pPr indent="0" marL="0">
              <a:lnSpc>
                <a:spcPct val="120000"/>
              </a:lnSpc>
              <a:buNone/>
            </a:pPr>
            <a:r>
              <a:rPr lang="en-US" sz="1100" dirty="0">
                <a:solidFill>
                  <a:srgbClr val="16223A"/>
                </a:solidFill>
                <a:latin typeface="Poppins" pitchFamily="34" charset="0"/>
                <a:ea typeface="Poppins" pitchFamily="34" charset="-122"/>
                <a:cs typeface="Poppins" pitchFamily="34" charset="-120"/>
              </a:rPr>
              <a:t>Todo cambio de alcance o de plazos debe ser previamente acordado por las partes. SEIDOR no estará obligada a realizar actividades fuera del alcance de la presente oferta, salvo que se acuerden expresamente en una modificación posterior.</a:t>
            </a:r>
            <a:endParaRPr lang="en-US" sz="1100" dirty="0"/>
          </a:p>
        </p:txBody>
      </p:sp>
      <p:sp>
        <p:nvSpPr>
          <p:cNvPr id="10" name="Text 7"/>
          <p:cNvSpPr/>
          <p:nvPr/>
        </p:nvSpPr>
        <p:spPr>
          <a:xfrm>
            <a:off x="640080" y="3977640"/>
            <a:ext cx="5257800" cy="365760"/>
          </a:xfrm>
          <a:prstGeom prst="rect">
            <a:avLst/>
          </a:prstGeom>
          <a:noFill/>
          <a:ln/>
        </p:spPr>
        <p:txBody>
          <a:bodyPr wrap="square" lIns="0" tIns="0" rIns="0" bIns="0" rtlCol="0" anchor="ctr"/>
          <a:lstStyle/>
          <a:p>
            <a:pPr indent="0" marL="0">
              <a:buNone/>
            </a:pPr>
            <a:r>
              <a:rPr lang="en-US" sz="1350" b="1" dirty="0">
                <a:solidFill>
                  <a:srgbClr val="1E5BB8"/>
                </a:solidFill>
                <a:latin typeface="Poppins" pitchFamily="34" charset="0"/>
                <a:ea typeface="Poppins" pitchFamily="34" charset="-122"/>
                <a:cs typeface="Poppins" pitchFamily="34" charset="-120"/>
              </a:rPr>
              <a:t>Vigencia de la Oferta</a:t>
            </a:r>
            <a:endParaRPr lang="en-US" sz="1350" dirty="0"/>
          </a:p>
        </p:txBody>
      </p:sp>
      <p:sp>
        <p:nvSpPr>
          <p:cNvPr id="11" name="Text 8"/>
          <p:cNvSpPr/>
          <p:nvPr/>
        </p:nvSpPr>
        <p:spPr>
          <a:xfrm>
            <a:off x="640080" y="4389120"/>
            <a:ext cx="5257800" cy="1737360"/>
          </a:xfrm>
          <a:prstGeom prst="rect">
            <a:avLst/>
          </a:prstGeom>
          <a:noFill/>
          <a:ln/>
        </p:spPr>
        <p:txBody>
          <a:bodyPr wrap="square" lIns="0" tIns="0" rIns="0" bIns="0" rtlCol="0" anchor="ctr"/>
          <a:lstStyle/>
          <a:p>
            <a:pPr indent="0" marL="0">
              <a:lnSpc>
                <a:spcPct val="120000"/>
              </a:lnSpc>
              <a:buNone/>
            </a:pPr>
            <a:r>
              <a:rPr lang="en-US" sz="1100" dirty="0">
                <a:solidFill>
                  <a:srgbClr val="16223A"/>
                </a:solidFill>
                <a:latin typeface="Poppins" pitchFamily="34" charset="0"/>
                <a:ea typeface="Poppins" pitchFamily="34" charset="-122"/>
                <a:cs typeface="Poppins" pitchFamily="34" charset="-120"/>
              </a:rPr>
              <a:t>La presente oferta estará vigente por un plazo de 30 días corridos desde su presentación, salvo que se pacte un plazo mayor. Podrá dejar de estar vigente si durante dicho periodo cambian las condiciones de mercado que afecten los costos (tipo de cambio, inflación, impuestos, entre otros).</a:t>
            </a:r>
            <a:endParaRPr lang="en-US" sz="1100" dirty="0"/>
          </a:p>
        </p:txBody>
      </p:sp>
      <p:sp>
        <p:nvSpPr>
          <p:cNvPr id="12" name="Text 9"/>
          <p:cNvSpPr/>
          <p:nvPr/>
        </p:nvSpPr>
        <p:spPr>
          <a:xfrm>
            <a:off x="6309360" y="3977640"/>
            <a:ext cx="5257800" cy="365760"/>
          </a:xfrm>
          <a:prstGeom prst="rect">
            <a:avLst/>
          </a:prstGeom>
          <a:noFill/>
          <a:ln/>
        </p:spPr>
        <p:txBody>
          <a:bodyPr wrap="square" lIns="0" tIns="0" rIns="0" bIns="0" rtlCol="0" anchor="ctr"/>
          <a:lstStyle/>
          <a:p>
            <a:pPr indent="0" marL="0">
              <a:buNone/>
            </a:pPr>
            <a:r>
              <a:rPr lang="en-US" sz="1350" b="1" dirty="0">
                <a:solidFill>
                  <a:srgbClr val="1E5BB8"/>
                </a:solidFill>
                <a:latin typeface="Poppins" pitchFamily="34" charset="0"/>
                <a:ea typeface="Poppins" pitchFamily="34" charset="-122"/>
                <a:cs typeface="Poppins" pitchFamily="34" charset="-120"/>
              </a:rPr>
              <a:t>Aclaraciones al Precio</a:t>
            </a:r>
            <a:endParaRPr lang="en-US" sz="1350" dirty="0"/>
          </a:p>
        </p:txBody>
      </p:sp>
      <p:sp>
        <p:nvSpPr>
          <p:cNvPr id="13" name="Text 10"/>
          <p:cNvSpPr/>
          <p:nvPr/>
        </p:nvSpPr>
        <p:spPr>
          <a:xfrm>
            <a:off x="6309360" y="4389120"/>
            <a:ext cx="5257800" cy="1737360"/>
          </a:xfrm>
          <a:prstGeom prst="rect">
            <a:avLst/>
          </a:prstGeom>
          <a:noFill/>
          <a:ln/>
        </p:spPr>
        <p:txBody>
          <a:bodyPr wrap="square" lIns="0" tIns="0" rIns="0" bIns="0" rtlCol="0" anchor="ctr"/>
          <a:lstStyle/>
          <a:p>
            <a:pPr indent="0" marL="0">
              <a:lnSpc>
                <a:spcPct val="120000"/>
              </a:lnSpc>
              <a:buNone/>
            </a:pPr>
            <a:r>
              <a:rPr lang="en-US" sz="1100" dirty="0">
                <a:solidFill>
                  <a:srgbClr val="16223A"/>
                </a:solidFill>
                <a:latin typeface="Poppins" pitchFamily="34" charset="0"/>
                <a:ea typeface="Poppins" pitchFamily="34" charset="-122"/>
                <a:cs typeface="Poppins" pitchFamily="34" charset="-120"/>
              </a:rPr>
              <a:t>Los precios detallados en esta oferta representan nuestra mejor estimación de acuerdo con la estructura solicitada en el proceso de contratación.</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deck/assets/logo_dark.png">    </p:cNvPr>
          <p:cNvPicPr>
            <a:picLocks noChangeAspect="1"/>
          </p:cNvPicPr>
          <p:nvPr/>
        </p:nvPicPr>
        <p:blipFill>
          <a:blip r:embed="rId2"/>
          <a:stretch>
            <a:fillRect/>
          </a:stretch>
        </p:blipFill>
        <p:spPr>
          <a:xfrm>
            <a:off x="4907128" y="1234440"/>
            <a:ext cx="2377440" cy="969342"/>
          </a:xfrm>
          <a:prstGeom prst="rect">
            <a:avLst/>
          </a:prstGeom>
        </p:spPr>
      </p:pic>
      <p:sp>
        <p:nvSpPr>
          <p:cNvPr id="3" name="Text 0"/>
          <p:cNvSpPr/>
          <p:nvPr/>
        </p:nvSpPr>
        <p:spPr>
          <a:xfrm>
            <a:off x="914400" y="2468880"/>
            <a:ext cx="10332720" cy="548640"/>
          </a:xfrm>
          <a:prstGeom prst="rect">
            <a:avLst/>
          </a:prstGeom>
          <a:noFill/>
          <a:ln/>
        </p:spPr>
        <p:txBody>
          <a:bodyPr wrap="square" lIns="0" tIns="0" rIns="0" bIns="0" rtlCol="0" anchor="ctr"/>
          <a:lstStyle/>
          <a:p>
            <a:pPr algn="ctr" indent="0" marL="0">
              <a:buNone/>
            </a:pPr>
            <a:r>
              <a:rPr lang="en-US" sz="2600" dirty="0">
                <a:solidFill>
                  <a:srgbClr val="C9D8EE"/>
                </a:solidFill>
                <a:latin typeface="Poppins" pitchFamily="34" charset="0"/>
                <a:ea typeface="Poppins" pitchFamily="34" charset="-122"/>
                <a:cs typeface="Poppins" pitchFamily="34" charset="-120"/>
              </a:rPr>
              <a:t>Servicio Time &amp; Material SAP</a:t>
            </a:r>
            <a:endParaRPr lang="en-US" sz="2600" dirty="0"/>
          </a:p>
        </p:txBody>
      </p:sp>
      <p:sp>
        <p:nvSpPr>
          <p:cNvPr id="4" name="Text 1"/>
          <p:cNvSpPr/>
          <p:nvPr/>
        </p:nvSpPr>
        <p:spPr>
          <a:xfrm>
            <a:off x="914400" y="3017520"/>
            <a:ext cx="10332720" cy="731520"/>
          </a:xfrm>
          <a:prstGeom prst="rect">
            <a:avLst/>
          </a:prstGeom>
          <a:noFill/>
          <a:ln/>
        </p:spPr>
        <p:txBody>
          <a:bodyPr wrap="square" lIns="0" tIns="0" rIns="0" bIns="0" rtlCol="0" anchor="ctr"/>
          <a:lstStyle/>
          <a:p>
            <a:pPr algn="ctr" indent="0" marL="0">
              <a:buNone/>
            </a:pPr>
            <a:r>
              <a:rPr lang="en-US" sz="3400" b="1" dirty="0">
                <a:solidFill>
                  <a:srgbClr val="FFFFFF"/>
                </a:solidFill>
                <a:latin typeface="Poppins" pitchFamily="34" charset="0"/>
                <a:ea typeface="Poppins" pitchFamily="34" charset="-122"/>
                <a:cs typeface="Poppins" pitchFamily="34" charset="-120"/>
              </a:rPr>
              <a:t>Capacidad SAP a la medida de tu operación</a:t>
            </a:r>
            <a:endParaRPr lang="en-US" sz="3400" dirty="0"/>
          </a:p>
        </p:txBody>
      </p:sp>
      <p:sp>
        <p:nvSpPr>
          <p:cNvPr id="5" name="Shape 2"/>
          <p:cNvSpPr/>
          <p:nvPr/>
        </p:nvSpPr>
        <p:spPr>
          <a:xfrm>
            <a:off x="5184648" y="3977640"/>
            <a:ext cx="1828800" cy="0"/>
          </a:xfrm>
          <a:prstGeom prst="line">
            <a:avLst/>
          </a:prstGeom>
          <a:noFill/>
          <a:ln w="31750">
            <a:solidFill>
              <a:srgbClr val="33B4DD"/>
            </a:solidFill>
            <a:prstDash val="solid"/>
          </a:ln>
        </p:spPr>
      </p:sp>
      <p:sp>
        <p:nvSpPr>
          <p:cNvPr id="6" name="Text 3"/>
          <p:cNvSpPr/>
          <p:nvPr/>
        </p:nvSpPr>
        <p:spPr>
          <a:xfrm>
            <a:off x="914400" y="4206240"/>
            <a:ext cx="10332720" cy="457200"/>
          </a:xfrm>
          <a:prstGeom prst="rect">
            <a:avLst/>
          </a:prstGeom>
          <a:noFill/>
          <a:ln/>
        </p:spPr>
        <p:txBody>
          <a:bodyPr wrap="square" lIns="0" tIns="0" rIns="0" bIns="0" rtlCol="0" anchor="ctr"/>
          <a:lstStyle/>
          <a:p>
            <a:pPr algn="ctr" indent="0" marL="0">
              <a:buNone/>
            </a:pPr>
            <a:r>
              <a:rPr lang="en-US" sz="1600" dirty="0">
                <a:solidFill>
                  <a:srgbClr val="6FD3F0"/>
                </a:solidFill>
                <a:latin typeface="Poppins" pitchFamily="34" charset="0"/>
                <a:ea typeface="Poppins" pitchFamily="34" charset="-122"/>
                <a:cs typeface="Poppins" pitchFamily="34" charset="-120"/>
              </a:rPr>
              <a:t>SEIDOR México  ·  Consultoría SAP</a:t>
            </a:r>
            <a:endParaRPr lang="en-US" sz="1600" dirty="0"/>
          </a:p>
        </p:txBody>
      </p:sp>
      <p:sp>
        <p:nvSpPr>
          <p:cNvPr id="7" name="Text 4"/>
          <p:cNvSpPr/>
          <p:nvPr/>
        </p:nvSpPr>
        <p:spPr>
          <a:xfrm>
            <a:off x="914400" y="6263640"/>
            <a:ext cx="10332720" cy="274320"/>
          </a:xfrm>
          <a:prstGeom prst="rect">
            <a:avLst/>
          </a:prstGeom>
          <a:noFill/>
          <a:ln/>
        </p:spPr>
        <p:txBody>
          <a:bodyPr wrap="square" lIns="0" tIns="0" rIns="0" bIns="0" rtlCol="0" anchor="ctr"/>
          <a:lstStyle/>
          <a:p>
            <a:pPr algn="ctr" indent="0" marL="0">
              <a:buNone/>
            </a:pPr>
            <a:r>
              <a:rPr lang="en-US" sz="1200" dirty="0">
                <a:solidFill>
                  <a:srgbClr val="8A97AC"/>
                </a:solidFill>
                <a:latin typeface="Poppins" pitchFamily="34" charset="0"/>
                <a:ea typeface="Poppins" pitchFamily="34" charset="-122"/>
                <a:cs typeface="Poppins" pitchFamily="34" charset="-120"/>
              </a:rPr>
              <a:t>seidor.com  ·  SEIDOR México | 2026</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SEIDOR</dc:creator>
  <cp:lastModifiedBy>SEIDOR</cp:lastModifiedBy>
  <cp:revision>1</cp:revision>
  <dcterms:created xsi:type="dcterms:W3CDTF">2026-09-15T21:40:55Z</dcterms:created>
  <dcterms:modified xsi:type="dcterms:W3CDTF">2026-09-15T21:40:55Z</dcterms:modified>
</cp:coreProperties>
</file>