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Aiza" userId="4ab47017-17a8-4c48-a9b5-c1bad8e3f99e" providerId="ADAL" clId="{BC9B096C-FEA5-5354-BEDC-096B8B71937E}"/>
    <pc:docChg chg="custSel modSld">
      <pc:chgData name="Samuel Aiza" userId="4ab47017-17a8-4c48-a9b5-c1bad8e3f99e" providerId="ADAL" clId="{BC9B096C-FEA5-5354-BEDC-096B8B71937E}" dt="2026-10-09T18:17:25.155" v="8" actId="478"/>
      <pc:docMkLst>
        <pc:docMk/>
      </pc:docMkLst>
      <pc:sldChg chg="delSp modSp mod">
        <pc:chgData name="Samuel Aiza" userId="4ab47017-17a8-4c48-a9b5-c1bad8e3f99e" providerId="ADAL" clId="{BC9B096C-FEA5-5354-BEDC-096B8B71937E}" dt="2026-10-09T18:17:25.155" v="8" actId="478"/>
        <pc:sldMkLst>
          <pc:docMk/>
          <pc:sldMk cId="0" sldId="266"/>
        </pc:sldMkLst>
        <pc:spChg chg="mod">
          <ac:chgData name="Samuel Aiza" userId="4ab47017-17a8-4c48-a9b5-c1bad8e3f99e" providerId="ADAL" clId="{BC9B096C-FEA5-5354-BEDC-096B8B71937E}" dt="2026-10-09T18:17:08.227" v="7" actId="20577"/>
          <ac:spMkLst>
            <pc:docMk/>
            <pc:sldMk cId="0" sldId="266"/>
            <ac:spMk id="23" creationId="{00000000-0000-0000-0000-000000000000}"/>
          </ac:spMkLst>
        </pc:spChg>
        <pc:spChg chg="del">
          <ac:chgData name="Samuel Aiza" userId="4ab47017-17a8-4c48-a9b5-c1bad8e3f99e" providerId="ADAL" clId="{BC9B096C-FEA5-5354-BEDC-096B8B71937E}" dt="2026-10-09T18:17:25.155" v="8" actId="478"/>
          <ac:spMkLst>
            <pc:docMk/>
            <pc:sldMk cId="0" sldId="266"/>
            <ac:spMk id="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88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502920"/>
            <a:ext cx="1417320" cy="5778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SERVICIOS GESTIONADOS SAP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86384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 de Administración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86384" y="31089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Basis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822960" y="4754880"/>
            <a:ext cx="0" cy="86868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1024128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PREPARADO PARA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503834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[Nombre del cliente]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Octubre 2026  ·  Documento confidencial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EJECUTIVO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SAP estable, monitoreada y medible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Administración SAP Basis remota sobre su plataforma SAP S/4HANA, con precio fijo mensual, catálogo de actividades definido y reportería periódica, bajo buenas prácticas ITIL y de SAP.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99.7%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Disponibilidad comprometida de sus sistemas SAP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26060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4636008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7×24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4636008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Monitoreo preventivo y turno de guardia para incidentes críticos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83296" y="26060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4" name="Text 11"/>
          <p:cNvSpPr/>
          <p:nvPr/>
        </p:nvSpPr>
        <p:spPr>
          <a:xfrm>
            <a:off x="8357616" y="2880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129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8357616" y="3977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Actividades en el catálogo: diarias, periódicas y a solicitud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Detectamos problemas potenciales antes de que impacten al negocio y proponemos de forma recurrente optimizaciones a la plataforma.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DE VALOR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incluye el servicio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538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877824" y="19110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805" y="2033077"/>
            <a:ext cx="286390" cy="286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Monitoreo preventivo 7×24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77824" y="285292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Jobs, spool, discos, interfaces, rendimiento y disponibilidad de todo el landscape.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25112" y="1691640"/>
            <a:ext cx="3538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4562856" y="19110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E5BB8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837" y="2033077"/>
            <a:ext cx="286390" cy="286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2856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de datos y respaldos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62856" y="285292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Consistencia, crecimiento, respaldos de data y log, y pruebas de restauración.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10144" y="1691640"/>
            <a:ext cx="3538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7" name="Shape 12"/>
          <p:cNvSpPr/>
          <p:nvPr/>
        </p:nvSpPr>
        <p:spPr>
          <a:xfrm>
            <a:off x="8247888" y="19110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869" y="2033077"/>
            <a:ext cx="286390" cy="286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7888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Informes diarios a mensuales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47888" y="2852928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ejecutivo diario, reporte mensual y análisis EWA para decidir con datos.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3867912"/>
            <a:ext cx="3538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2" name="Shape 16"/>
          <p:cNvSpPr/>
          <p:nvPr/>
        </p:nvSpPr>
        <p:spPr>
          <a:xfrm>
            <a:off x="877824" y="408736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E5BB8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805" y="4209349"/>
            <a:ext cx="286390" cy="28639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77824" y="470916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Incidentes y requerimientos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77824" y="50292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Atención vía portal, e-mail o app móvil, con escalamiento definido y reporte de cada incidente.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325112" y="3867912"/>
            <a:ext cx="3538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7" name="Shape 20"/>
          <p:cNvSpPr/>
          <p:nvPr/>
        </p:nvSpPr>
        <p:spPr>
          <a:xfrm>
            <a:off x="4562856" y="408736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4837" y="4209349"/>
            <a:ext cx="286390" cy="28639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62856" y="470916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Consultores certificados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62856" y="50292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 SAP Basis con certificaciones SAP e ITIL, bajo un líder de servicio asignado.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010144" y="3867912"/>
            <a:ext cx="353872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32" name="Shape 24"/>
          <p:cNvSpPr/>
          <p:nvPr/>
        </p:nvSpPr>
        <p:spPr>
          <a:xfrm>
            <a:off x="8247888" y="408736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E5BB8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9869" y="4209349"/>
            <a:ext cx="286390" cy="28639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47888" y="470916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Capacitación incluida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247888" y="50292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workshops Basis para su equipo durante la vigencia del contrato.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Catálogo de actividades por frecuencia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servicio se entrega sobre un catálogo cerrado de 129 actividades; lo que queda fuera se cotiza como proyecto.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2072030" cy="374904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8" name="Text 5"/>
          <p:cNvSpPr/>
          <p:nvPr/>
        </p:nvSpPr>
        <p:spPr>
          <a:xfrm>
            <a:off x="841248" y="2286000"/>
            <a:ext cx="17062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41248" y="3063240"/>
            <a:ext cx="1706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Diarias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" y="3520440"/>
            <a:ext cx="170627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Jobs, spool, discos e interfaces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Respaldos y consistencia de BD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Órdenes de transporte a PRD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Alertas y escalamiento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849270" y="2103120"/>
            <a:ext cx="2072030" cy="374904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Text 9"/>
          <p:cNvSpPr/>
          <p:nvPr/>
        </p:nvSpPr>
        <p:spPr>
          <a:xfrm>
            <a:off x="3050438" y="2286000"/>
            <a:ext cx="17062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050438" y="3063240"/>
            <a:ext cx="1706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Semanales y mensuales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50438" y="3520440"/>
            <a:ext cx="170627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EWA semanal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mensual de administración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Optimización de parámetros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Recomendaciones EWA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58461" y="2103120"/>
            <a:ext cx="2072030" cy="374904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6" name="Text 13"/>
          <p:cNvSpPr/>
          <p:nvPr/>
        </p:nvSpPr>
        <p:spPr>
          <a:xfrm>
            <a:off x="5259629" y="2286000"/>
            <a:ext cx="17062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5259629" y="3063240"/>
            <a:ext cx="1706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Trimestrales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9629" y="3520440"/>
            <a:ext cx="170627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Licencias de mantenimiento SAP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Crecimiento de BD y recursos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Verificación de respaldos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267651" y="2103120"/>
            <a:ext cx="2072030" cy="374904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0" name="Text 17"/>
          <p:cNvSpPr/>
          <p:nvPr/>
        </p:nvSpPr>
        <p:spPr>
          <a:xfrm>
            <a:off x="7468819" y="2286000"/>
            <a:ext cx="17062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5B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7468819" y="3063240"/>
            <a:ext cx="1706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Semestrales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68819" y="3520440"/>
            <a:ext cx="170627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Certificado SAP Router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de mantenimientos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Pruebas de recuperación (DR)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Copias homogéneas / heterogéneas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9476842" y="2103120"/>
            <a:ext cx="2072030" cy="374904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4" name="Text 21"/>
          <p:cNvSpPr/>
          <p:nvPr/>
        </p:nvSpPr>
        <p:spPr>
          <a:xfrm>
            <a:off x="9678010" y="2286000"/>
            <a:ext cx="17062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</a:t>
            </a:r>
            <a:endParaRPr lang="en-US" sz="4000" dirty="0"/>
          </a:p>
        </p:txBody>
      </p:sp>
      <p:sp>
        <p:nvSpPr>
          <p:cNvPr id="25" name="Text 22"/>
          <p:cNvSpPr/>
          <p:nvPr/>
        </p:nvSpPr>
        <p:spPr>
          <a:xfrm>
            <a:off x="9678010" y="3063240"/>
            <a:ext cx="1706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solicitud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678010" y="3520440"/>
            <a:ext cx="170627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Kernel y Support Packages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Notas SAP (SNOTE)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Copias de mandante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Tuning de BD y alta disponibilidad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DE ATENCIÓN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Cómo y cuándo atendemos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537210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896112" y="18288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Horario de requerimientos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286000"/>
            <a:ext cx="48600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Lunes a viernes, 9:00 a 18:00 h, 100% remoto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Ambientes DEV/QA, copias y refrescos de sistemas en este horario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6772" y="1645920"/>
            <a:ext cx="537210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0" name="Text 7"/>
          <p:cNvSpPr/>
          <p:nvPr/>
        </p:nvSpPr>
        <p:spPr>
          <a:xfrm>
            <a:off x="6432804" y="182880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Incidentes críticos 7×24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32804" y="2286000"/>
            <a:ext cx="48600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Fuera de horario, por llamada al personal de turno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 a criticidad Alta o Muy alta en sistemas productivos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886200"/>
            <a:ext cx="537210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896112" y="4069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Canales de atención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96112" y="4526280"/>
            <a:ext cx="48600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Portal web de tickets, e-mail y plataforma móvil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Líder de servicio para SLA, KPI, seguimiento y escalamiento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6772" y="3886200"/>
            <a:ext cx="5372100" cy="2075688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6" name="Text 13"/>
          <p:cNvSpPr/>
          <p:nvPr/>
        </p:nvSpPr>
        <p:spPr>
          <a:xfrm>
            <a:off x="6432804" y="406908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Trabajos de emergencia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432804" y="4526280"/>
            <a:ext cx="48600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Evaluación previa con el consultor Basis asignado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Matriz de escalamiento entregada en la reunión inicial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NIVELES DE SERVICIO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Tiempos de atención y escalamiento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10908792" cy="640080"/>
          </a:xfrm>
          <a:prstGeom prst="rect">
            <a:avLst/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Criticidad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154680" y="1691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Tiempo de atención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78040" y="169164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Restauración / plan de acción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Muy alta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154680" y="2331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 15 minutos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78040" y="233172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 4 horas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2971800"/>
            <a:ext cx="10908792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Shape 11"/>
          <p:cNvSpPr/>
          <p:nvPr/>
        </p:nvSpPr>
        <p:spPr>
          <a:xfrm>
            <a:off x="640080" y="2971800"/>
            <a:ext cx="10908792" cy="640080"/>
          </a:xfrm>
          <a:prstGeom prst="rect">
            <a:avLst/>
          </a:prstGeom>
          <a:solidFill>
            <a:srgbClr val="F1F5FB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5" name="Text 12"/>
          <p:cNvSpPr/>
          <p:nvPr/>
        </p:nvSpPr>
        <p:spPr>
          <a:xfrm>
            <a:off x="7772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154680" y="2971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 60 minutos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97180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≤ 16 horas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3611880"/>
            <a:ext cx="10908792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7772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Baja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154680" y="3611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Diagnóstico y caso a SAP ≤ 240 min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178040" y="3611880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Cierre automático a los 5 días sin respuesta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40080" y="4251960"/>
            <a:ext cx="10908792" cy="0"/>
          </a:xfrm>
          <a:prstGeom prst="line">
            <a:avLst/>
          </a:prstGeom>
          <a:noFill/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23" name="Shape 20"/>
          <p:cNvSpPr/>
          <p:nvPr/>
        </p:nvSpPr>
        <p:spPr>
          <a:xfrm>
            <a:off x="640080" y="4663440"/>
            <a:ext cx="53766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4" name="Text 21"/>
          <p:cNvSpPr/>
          <p:nvPr/>
        </p:nvSpPr>
        <p:spPr>
          <a:xfrm>
            <a:off x="896112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de incidente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96112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Entregado en un máximo de 72 horas tras el evento.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72200" y="4663440"/>
            <a:ext cx="537667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7" name="Text 24"/>
          <p:cNvSpPr/>
          <p:nvPr/>
        </p:nvSpPr>
        <p:spPr>
          <a:xfrm>
            <a:off x="6428232" y="4800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Disponibilidad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28232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99.7% comprometida sobre los sistemas del alcance.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GOBERNANZA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Reportes y documentos del servicio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420624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896112" y="187452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Análisis técnico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331720"/>
            <a:ext cx="369417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Watch Alert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Health Check for ABAP Systems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CQC Going Live Verification Session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10912" y="1691640"/>
            <a:ext cx="6537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0" name="Text 7"/>
          <p:cNvSpPr/>
          <p:nvPr/>
        </p:nvSpPr>
        <p:spPr>
          <a:xfrm>
            <a:off x="5266944" y="187452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del servicio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266944" y="2331720"/>
            <a:ext cx="602589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diario ejecutivo e informe mensual de administración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Informe de incidente y minuta de reunión con el cliente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Matriz de responsabilidades y matriz de contacto para escalamiento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Checklist de actividades y documento de evidencia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ALCANCE EXTENDIDO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Actividades especiales y capacitación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896112" y="1874520"/>
            <a:ext cx="5340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Fuera del catálogo (cotización por proyecto)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331720"/>
            <a:ext cx="534009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Instalación de nuevos productos y Enhancement Packages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Upgrades y migraciones de sistema o plataforma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Copia heterogénea adicional y archiving de datos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 SSO y activaciones en SAP BTP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Consultoría Basis para proyectos del cliente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56832" y="1691640"/>
            <a:ext cx="4892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0" name="Text 7"/>
          <p:cNvSpPr/>
          <p:nvPr/>
        </p:nvSpPr>
        <p:spPr>
          <a:xfrm>
            <a:off x="6912864" y="1874520"/>
            <a:ext cx="4379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Capacitación Basis incluida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912864" y="2331720"/>
            <a:ext cx="43799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Workshop inicial básico: 10 participantes, 4 horas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Workshop de System Administrator S/4HANA: 10 participantes, 4 horas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 en español, sobre el sistema de pruebas del cliente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vez durante la vigencia del contrato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ARRANQUE DEL SERVICIO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Toma de control y estabilización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arranque ordenado, con roles definidos en cada etapa, antes de que comiencen a medirse los SLA.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8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Toma de control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Inicio del contrato y levantamiento de información del landscape. Plazo de referencia: 1 mes.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61688" y="219456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3" name="Shape 10"/>
          <p:cNvSpPr/>
          <p:nvPr/>
        </p:nvSpPr>
        <p:spPr>
          <a:xfrm>
            <a:off x="4636008" y="2468880"/>
            <a:ext cx="640080" cy="640080"/>
          </a:xfrm>
          <a:prstGeom prst="ellipse">
            <a:avLst/>
          </a:prstGeom>
          <a:solidFill>
            <a:srgbClr val="1E5BB8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4" name="Text 11"/>
          <p:cNvSpPr/>
          <p:nvPr/>
        </p:nvSpPr>
        <p:spPr>
          <a:xfrm>
            <a:off x="463600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36008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Estabilización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36008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Inicio del soporte, normalización del ambiente y ajuste de procedimientos con su equipo.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83296" y="219456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8" name="Shape 15"/>
          <p:cNvSpPr/>
          <p:nvPr/>
        </p:nvSpPr>
        <p:spPr>
          <a:xfrm>
            <a:off x="8357616" y="2468880"/>
            <a:ext cx="640080" cy="640080"/>
          </a:xfrm>
          <a:prstGeom prst="ellipse">
            <a:avLst/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8357616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357616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continua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57616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Comienzan a medirse los SLA y KPI, con informes y reunión mensual de seguimiento.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las tres etapas: Gerente de servicio SAP Basis, coordinador de delivery y transición, y consultores de soporte.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del servicio SAP Basis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023360" y="16916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A1226"/>
          </a:solidFill>
          <a:ln w="12700">
            <a:solidFill>
              <a:srgbClr val="0A1226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411480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Gerente de Consultoría SAP Basis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828800" y="27889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1920240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Líder de Administración SAP Basis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27889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1E5BB8"/>
          </a:solidFill>
          <a:ln w="12700">
            <a:solidFill>
              <a:srgbClr val="1E5BB8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1" name="Text 8"/>
          <p:cNvSpPr/>
          <p:nvPr/>
        </p:nvSpPr>
        <p:spPr>
          <a:xfrm>
            <a:off x="6492240" y="2788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Líder de Proyectos SAP Basis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2377440"/>
            <a:ext cx="0" cy="182880"/>
          </a:xfrm>
          <a:prstGeom prst="line">
            <a:avLst/>
          </a:prstGeom>
          <a:noFill/>
          <a:ln w="19050">
            <a:solidFill>
              <a:srgbClr val="8A97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3" name="Shape 10"/>
          <p:cNvSpPr/>
          <p:nvPr/>
        </p:nvSpPr>
        <p:spPr>
          <a:xfrm>
            <a:off x="3794760" y="2560320"/>
            <a:ext cx="4572000" cy="0"/>
          </a:xfrm>
          <a:prstGeom prst="line">
            <a:avLst/>
          </a:prstGeom>
          <a:noFill/>
          <a:ln w="19050">
            <a:solidFill>
              <a:srgbClr val="8A97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4" name="Shape 11"/>
          <p:cNvSpPr/>
          <p:nvPr/>
        </p:nvSpPr>
        <p:spPr>
          <a:xfrm>
            <a:off x="3794760" y="2560320"/>
            <a:ext cx="0" cy="228600"/>
          </a:xfrm>
          <a:prstGeom prst="line">
            <a:avLst/>
          </a:prstGeom>
          <a:noFill/>
          <a:ln w="19050">
            <a:solidFill>
              <a:srgbClr val="8A97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5" name="Shape 12"/>
          <p:cNvSpPr/>
          <p:nvPr/>
        </p:nvSpPr>
        <p:spPr>
          <a:xfrm>
            <a:off x="8366760" y="2560320"/>
            <a:ext cx="0" cy="228600"/>
          </a:xfrm>
          <a:prstGeom prst="line">
            <a:avLst/>
          </a:prstGeom>
          <a:noFill/>
          <a:ln w="19050">
            <a:solidFill>
              <a:srgbClr val="8A97AC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16" name="Shape 13"/>
          <p:cNvSpPr/>
          <p:nvPr/>
        </p:nvSpPr>
        <p:spPr>
          <a:xfrm>
            <a:off x="822960" y="39319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7" name="Text 14"/>
          <p:cNvSpPr/>
          <p:nvPr/>
        </p:nvSpPr>
        <p:spPr>
          <a:xfrm>
            <a:off x="91440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Consultores Senior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43400" y="39319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9" name="Text 16"/>
          <p:cNvSpPr/>
          <p:nvPr/>
        </p:nvSpPr>
        <p:spPr>
          <a:xfrm>
            <a:off x="443484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Consultores Semi Senior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863840" y="3931920"/>
            <a:ext cx="34747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1" name="Text 18"/>
          <p:cNvSpPr/>
          <p:nvPr/>
        </p:nvSpPr>
        <p:spPr>
          <a:xfrm>
            <a:off x="7955280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Consultores Junior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40080" y="5029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Certificaciones del equipo: SAP HANA Database Administrator · SAP Fiori System Administration · SAP Solution Architect BTP · RISE with SAP S/4HANA Cloud, private edition · ITIL Foundation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MODELO COMERCIAL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fijo mensual, sin sorpresas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Shape 4"/>
          <p:cNvSpPr/>
          <p:nvPr/>
        </p:nvSpPr>
        <p:spPr>
          <a:xfrm>
            <a:off x="877824" y="19110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805" y="2033077"/>
            <a:ext cx="286390" cy="286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Precio fijo mensual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77824" y="2852928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Cubre todas las actividades del catálogo de servicios sobre los sistemas del alcance.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25112" y="169164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2" name="Shape 8"/>
          <p:cNvSpPr/>
          <p:nvPr/>
        </p:nvSpPr>
        <p:spPr>
          <a:xfrm>
            <a:off x="4562856" y="19110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E5BB8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837" y="2033077"/>
            <a:ext cx="286390" cy="286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62856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Plazo de 12 o 24 meses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62856" y="2852928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tarifa mensual mejora al contratar a 24 meses.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010144" y="1691640"/>
            <a:ext cx="353872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7" name="Shape 12"/>
          <p:cNvSpPr/>
          <p:nvPr/>
        </p:nvSpPr>
        <p:spPr>
          <a:xfrm>
            <a:off x="8247888" y="191109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0A1226"/>
          </a:solidFill>
          <a:ln/>
        </p:spPr>
        <p:txBody>
          <a:bodyPr/>
          <a:lstStyle/>
          <a:p>
            <a:endParaRPr lang="es-ES_tradnl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869" y="2033077"/>
            <a:ext cx="286390" cy="286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47888" y="253288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Sistemas adicionales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247888" y="2852928"/>
            <a:ext cx="3081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E6B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Ambientes DEV, QA y PRD adicionales se suman con un cargo mensual aparte.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4114800"/>
            <a:ext cx="10908792" cy="1463040"/>
          </a:xfrm>
          <a:prstGeom prst="roundRect">
            <a:avLst>
              <a:gd name="adj" fmla="val 5000"/>
            </a:avLst>
          </a:prstGeom>
          <a:solidFill>
            <a:srgbClr val="0E1E3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22" name="Text 16"/>
          <p:cNvSpPr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MENSUAL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4400" y="46177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4,308 + IVA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3B4D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CONSIDERACIONES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Premisas y límites del servicio</a:t>
            </a:r>
            <a:endParaRPr lang="en-US" sz="2800" dirty="0"/>
          </a:p>
        </p:txBody>
      </p:sp>
      <p:pic>
        <p:nvPicPr>
          <p:cNvPr id="4" name="Image 0" descr="/tmp/claude-0/deck/assets/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502920"/>
            <a:ext cx="1417320" cy="577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721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7" name="Text 4"/>
          <p:cNvSpPr/>
          <p:nvPr/>
        </p:nvSpPr>
        <p:spPr>
          <a:xfrm>
            <a:off x="896112" y="18745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Qué necesitamos del cliente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331720"/>
            <a:ext cx="48600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Conectividad a internet y VPN adecuadas para la conexión remota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Contraparte técnica y cadena de contactos para incidentes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Evaluar con SEIDOR cualquier cambio de arquitectura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Garantías de hardware y soporte de fabricantes vigentes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mes para la toma de control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6772" y="1691640"/>
            <a:ext cx="53721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14300" dist="38100" dir="5400000" algn="bl" rotWithShape="0">
              <a:srgbClr val="9FB3CC">
                <a:alpha val="18000"/>
              </a:srgbClr>
            </a:outerShdw>
          </a:effectLst>
        </p:spPr>
        <p:txBody>
          <a:bodyPr/>
          <a:lstStyle/>
          <a:p>
            <a:endParaRPr lang="es-ES_tradnl"/>
          </a:p>
        </p:txBody>
      </p:sp>
      <p:sp>
        <p:nvSpPr>
          <p:cNvPr id="10" name="Text 7"/>
          <p:cNvSpPr/>
          <p:nvPr/>
        </p:nvSpPr>
        <p:spPr>
          <a:xfrm>
            <a:off x="6432804" y="18745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2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Fuera del alcance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32804" y="2331720"/>
            <a:ext cx="48600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Hardware, licencias y cambios de arquitectura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Upgrades, migraciones y nuevos sistemas SAP sin evaluación previa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Servicios modificados por terceros no avalados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Proyectos de implementación de nuevos clientes o plataformas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622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Actividades que no estén en el catálogo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deck/assets/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128" y="1234440"/>
            <a:ext cx="2377440" cy="9693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C9D8E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 socio estratégico en SAP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Operación SAP en buenas manos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184648" y="3977640"/>
            <a:ext cx="1828800" cy="0"/>
          </a:xfrm>
          <a:prstGeom prst="line">
            <a:avLst/>
          </a:prstGeom>
          <a:noFill/>
          <a:ln w="31750">
            <a:solidFill>
              <a:srgbClr val="33B4DD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FD3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Gracias por la confianza de [Nombre del cliente]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62636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7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seidor.com  ·  SEIDOR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59E690FA72414A8C681A4A80EE25FE" ma:contentTypeVersion="12" ma:contentTypeDescription="Crear nuevo documento." ma:contentTypeScope="" ma:versionID="33851909cf45562ee4f4de4ad03c4a49">
  <xsd:schema xmlns:xsd="http://www.w3.org/2001/XMLSchema" xmlns:xs="http://www.w3.org/2001/XMLSchema" xmlns:p="http://schemas.microsoft.com/office/2006/metadata/properties" xmlns:ns2="7aa1c8bc-4451-4b2a-a286-e8cec83fd296" xmlns:ns3="986fc4f1-7f87-4219-b575-789a24a2eae3" targetNamespace="http://schemas.microsoft.com/office/2006/metadata/properties" ma:root="true" ma:fieldsID="feaabfe8b3e330d68e32c59ecd9da4db" ns2:_="" ns3:_="">
    <xsd:import namespace="7aa1c8bc-4451-4b2a-a286-e8cec83fd296"/>
    <xsd:import namespace="986fc4f1-7f87-4219-b575-789a24a2ea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a1c8bc-4451-4b2a-a286-e8cec83fd2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b0ddd21b-762e-48f6-9c4a-52ac7d68ae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6fc4f1-7f87-4219-b575-789a24a2eae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9050857-0334-4cc5-9602-dc511b2ed13b}" ma:internalName="TaxCatchAll" ma:showField="CatchAllData" ma:web="986fc4f1-7f87-4219-b575-789a24a2ea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a1c8bc-4451-4b2a-a286-e8cec83fd296">
      <Terms xmlns="http://schemas.microsoft.com/office/infopath/2007/PartnerControls"/>
    </lcf76f155ced4ddcb4097134ff3c332f>
    <TaxCatchAll xmlns="986fc4f1-7f87-4219-b575-789a24a2eae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003FE2-2E7C-41B3-B4F6-265EB556D9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a1c8bc-4451-4b2a-a286-e8cec83fd296"/>
    <ds:schemaRef ds:uri="986fc4f1-7f87-4219-b575-789a24a2ea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E8DE1C-8C5C-41F8-8CF2-AA21CE889F23}">
  <ds:schemaRefs>
    <ds:schemaRef ds:uri="986fc4f1-7f87-4219-b575-789a24a2eae3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7aa1c8bc-4451-4b2a-a286-e8cec83fd296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C641B88-28D4-4D42-866A-B7FE89C3EC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54623d6-1504-4f22-a146-b7c72637766a}" enabled="0" method="" siteId="{654623d6-1504-4f22-a146-b7c72637766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1041</Words>
  <Application>Microsoft Macintosh PowerPoint</Application>
  <PresentationFormat>Panorámica</PresentationFormat>
  <Paragraphs>192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SEIDOR</dc:creator>
  <cp:lastModifiedBy>Samuel Aiza</cp:lastModifiedBy>
  <cp:revision>1</cp:revision>
  <dcterms:created xsi:type="dcterms:W3CDTF">2026-10-09T18:03:34Z</dcterms:created>
  <dcterms:modified xsi:type="dcterms:W3CDTF">2026-10-09T18:17:35Z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0x0101005059E690FA72414A8C681A4A80EE25FE</vt:lpwstr>
  </property>
  <property fmtid="{D5CDD505-2E9C-101B-9397-08002B2CF9AE}" pid="3" name="MediaServiceImageTags">
    <vt:lpwstr/>
  </property>
</Properties>
</file>